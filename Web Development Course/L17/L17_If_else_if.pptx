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79" r:id="rId7"/>
    <p:sldId id="280" r:id="rId8"/>
    <p:sldId id="281" r:id="rId9"/>
    <p:sldId id="282" r:id="rId10"/>
    <p:sldId id="289" r:id="rId11"/>
    <p:sldId id="270" r:id="rId12"/>
    <p:sldId id="283" r:id="rId13"/>
    <p:sldId id="284" r:id="rId14"/>
    <p:sldId id="285" r:id="rId15"/>
    <p:sldId id="286" r:id="rId16"/>
    <p:sldId id="287" r:id="rId17"/>
    <p:sldId id="288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47800"/>
            <a:ext cx="12128739" cy="3329581"/>
          </a:xfrm>
        </p:spPr>
        <p:txBody>
          <a:bodyPr/>
          <a:lstStyle/>
          <a:p>
            <a:pPr algn="ctr"/>
            <a:r>
              <a:rPr lang="ur-PK" sz="9600" dirty="0"/>
              <a:t>بِسْمِ ٱللَّهِ ٱلرَّحْمَٰنِ ٱلرَّحِيمِ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092456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Course: 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3680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Institute: Corvit Systems Peshawar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60709" y="514543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Duration: 3-Month Web Designing &amp; Development Course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66465" y="5530746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2</a:t>
            </a:r>
            <a:r>
              <a:rPr lang="en-US" b="1" baseline="30000" dirty="0" smtClean="0"/>
              <a:t>nd</a:t>
            </a:r>
            <a:r>
              <a:rPr lang="en-US" b="1" dirty="0" smtClean="0"/>
              <a:t>  </a:t>
            </a:r>
            <a:r>
              <a:rPr lang="en-US" b="1" dirty="0" smtClean="0"/>
              <a:t>class of JS (Java script)</a:t>
            </a:r>
            <a:endParaRPr lang="en-US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154967" y="589880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Topic : Conditions and operators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7948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3607"/>
          </a:xfrm>
        </p:spPr>
        <p:txBody>
          <a:bodyPr/>
          <a:lstStyle/>
          <a:p>
            <a:pPr algn="ctr"/>
            <a:r>
              <a:rPr lang="en-US" b="1" dirty="0"/>
              <a:t>Instructor: Muhammad Sahil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2061328"/>
            <a:ext cx="101036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 in Computer Science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MERN Stack Developer – E Digital Pakistan (KPITB)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Web Instructor – E Digital Pakistan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Months Web Instructor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Science Teacher –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Alflah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College,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Sarband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 with multiple local client projects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3239" y="5858587"/>
            <a:ext cx="9404723" cy="7636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dirty="0"/>
              <a:t>Full Stack / MERN Stack Web Developer | Web Instructor</a:t>
            </a:r>
          </a:p>
        </p:txBody>
      </p:sp>
    </p:spTree>
    <p:extLst>
      <p:ext uri="{BB962C8B-B14F-4D97-AF65-F5344CB8AC3E}">
        <p14:creationId xmlns:p14="http://schemas.microsoft.com/office/powerpoint/2010/main" val="699724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0705"/>
            <a:ext cx="8825659" cy="1036608"/>
          </a:xfrm>
        </p:spPr>
        <p:txBody>
          <a:bodyPr/>
          <a:lstStyle/>
          <a:p>
            <a:r>
              <a:rPr lang="en-US" sz="4000" b="1" dirty="0"/>
              <a:t>What are Operators in JavaScript?</a:t>
            </a:r>
            <a:endParaRPr lang="en-US" sz="4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82426" y="1535766"/>
            <a:ext cx="8627400" cy="4811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Operators </a:t>
            </a:r>
            <a:r>
              <a:rPr lang="en-US" sz="2400" dirty="0"/>
              <a:t>are symbols used to perform operations on values and variables.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JavaScript operators help </a:t>
            </a:r>
            <a:r>
              <a:rPr lang="en-US" sz="2400" dirty="0" smtClean="0"/>
              <a:t>in: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Calculations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Comparisons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Decision </a:t>
            </a:r>
            <a:r>
              <a:rPr lang="en-US" sz="2400" dirty="0"/>
              <a:t>making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Main types we study </a:t>
            </a:r>
            <a:r>
              <a:rPr lang="en-US" sz="2400" dirty="0" smtClean="0"/>
              <a:t>today: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Arithmetic Operators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Comparison Operators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Logical </a:t>
            </a:r>
            <a:r>
              <a:rPr lang="en-US" sz="2400" dirty="0"/>
              <a:t>Operators</a:t>
            </a:r>
          </a:p>
        </p:txBody>
      </p:sp>
    </p:spTree>
    <p:extLst>
      <p:ext uri="{BB962C8B-B14F-4D97-AF65-F5344CB8AC3E}">
        <p14:creationId xmlns:p14="http://schemas.microsoft.com/office/powerpoint/2010/main" val="3126132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826" y="162464"/>
            <a:ext cx="11628408" cy="1174630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4400" b="1" dirty="0" smtClean="0">
                <a:latin typeface="Arial" panose="020B0604020202020204" pitchFamily="34" charset="0"/>
              </a:rPr>
              <a:t>Arithmetic </a:t>
            </a:r>
            <a:r>
              <a:rPr lang="en-US" altLang="en-US" sz="4400" b="1" dirty="0">
                <a:latin typeface="Arial" panose="020B0604020202020204" pitchFamily="34" charset="0"/>
              </a:rPr>
              <a:t>Operators</a:t>
            </a:r>
            <a:endParaRPr lang="en-US" altLang="en-US" sz="4400" b="1" dirty="0"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003989"/>
            <a:ext cx="725551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" panose="020B0604020202020204" pitchFamily="34" charset="0"/>
              </a:rPr>
              <a:t>Used </a:t>
            </a:r>
            <a:r>
              <a:rPr lang="en-US" altLang="en-US" sz="2400" dirty="0">
                <a:latin typeface="Arial" panose="020B0604020202020204" pitchFamily="34" charset="0"/>
              </a:rPr>
              <a:t>for mathematical calculations.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Common arithmetic operators</a:t>
            </a:r>
            <a:r>
              <a:rPr lang="en-US" altLang="en-US" sz="2400" dirty="0" smtClean="0">
                <a:latin typeface="Arial" panose="020B0604020202020204" pitchFamily="34" charset="0"/>
              </a:rPr>
              <a:t>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 Unicode MS" panose="020B0604020202020204" pitchFamily="34" charset="-128"/>
              </a:rPr>
              <a:t>   ( </a:t>
            </a:r>
            <a:r>
              <a:rPr lang="en-US" altLang="en-US" sz="2400" i="1" dirty="0" smtClean="0">
                <a:solidFill>
                  <a:srgbClr val="FFFF00"/>
                </a:solidFill>
              </a:rPr>
              <a:t>+ </a:t>
            </a:r>
            <a:r>
              <a:rPr lang="en-US" altLang="en-US" sz="2400" dirty="0" smtClean="0">
                <a:latin typeface="Arial" panose="020B0604020202020204" pitchFamily="34" charset="0"/>
              </a:rPr>
              <a:t>)</a:t>
            </a:r>
            <a:r>
              <a:rPr lang="en-US" altLang="en-US" sz="2400" dirty="0" smtClean="0"/>
              <a:t> Addition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   ( </a:t>
            </a:r>
            <a:r>
              <a:rPr lang="en-US" altLang="en-US" sz="2400" i="1" dirty="0" smtClean="0">
                <a:solidFill>
                  <a:srgbClr val="FFFF00"/>
                </a:solidFill>
              </a:rPr>
              <a:t>- </a:t>
            </a:r>
            <a:r>
              <a:rPr lang="en-US" altLang="en-US" sz="2400" dirty="0">
                <a:latin typeface="Arial" panose="020B0604020202020204" pitchFamily="34" charset="0"/>
              </a:rPr>
              <a:t>)</a:t>
            </a:r>
            <a:r>
              <a:rPr lang="en-US" altLang="en-US" sz="2400" i="1" dirty="0" smtClean="0">
                <a:solidFill>
                  <a:srgbClr val="FFFF00"/>
                </a:solidFill>
              </a:rPr>
              <a:t> </a:t>
            </a:r>
            <a:r>
              <a:rPr lang="en-US" altLang="en-US" sz="2400" dirty="0" smtClean="0"/>
              <a:t>Subtraction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   ( </a:t>
            </a:r>
            <a:r>
              <a:rPr lang="en-US" altLang="en-US" sz="2400" i="1" dirty="0" smtClean="0">
                <a:solidFill>
                  <a:srgbClr val="FFFF00"/>
                </a:solidFill>
              </a:rPr>
              <a:t>* </a:t>
            </a:r>
            <a:r>
              <a:rPr lang="en-US" altLang="en-US" sz="2400" dirty="0">
                <a:latin typeface="Arial" panose="020B0604020202020204" pitchFamily="34" charset="0"/>
              </a:rPr>
              <a:t>) </a:t>
            </a:r>
            <a:r>
              <a:rPr lang="en-US" altLang="en-US" sz="2400" dirty="0" smtClean="0"/>
              <a:t>Multiplication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 Unicode MS" panose="020B0604020202020204" pitchFamily="34" charset="-128"/>
              </a:rPr>
              <a:t>   ( </a:t>
            </a:r>
            <a:r>
              <a:rPr lang="en-US" altLang="en-US" sz="2400" i="1" dirty="0" smtClean="0">
                <a:solidFill>
                  <a:srgbClr val="FFFF00"/>
                </a:solidFill>
              </a:rPr>
              <a:t>/</a:t>
            </a:r>
            <a:r>
              <a:rPr lang="en-US" altLang="en-US" sz="2400" dirty="0" smtClean="0"/>
              <a:t> </a:t>
            </a:r>
            <a:r>
              <a:rPr lang="en-US" altLang="en-US" sz="2400" dirty="0">
                <a:latin typeface="Arial" panose="020B0604020202020204" pitchFamily="34" charset="0"/>
              </a:rPr>
              <a:t>) </a:t>
            </a:r>
            <a:r>
              <a:rPr lang="en-US" altLang="en-US" sz="2400" dirty="0" smtClean="0"/>
              <a:t>Division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 Unicode MS" panose="020B0604020202020204" pitchFamily="34" charset="-128"/>
              </a:rPr>
              <a:t>   ( </a:t>
            </a:r>
            <a:r>
              <a:rPr lang="en-US" altLang="en-US" sz="2400" i="1" dirty="0" smtClean="0">
                <a:solidFill>
                  <a:srgbClr val="FFFF00"/>
                </a:solidFill>
              </a:rPr>
              <a:t>%</a:t>
            </a:r>
            <a:r>
              <a:rPr lang="en-US" altLang="en-US" sz="2400" dirty="0" smtClean="0"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</a:rPr>
              <a:t>)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Modulus (remainder)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Used in calculators, marks calculation, totals, etc.</a:t>
            </a:r>
          </a:p>
        </p:txBody>
      </p:sp>
    </p:spTree>
    <p:extLst>
      <p:ext uri="{BB962C8B-B14F-4D97-AF65-F5344CB8AC3E}">
        <p14:creationId xmlns:p14="http://schemas.microsoft.com/office/powerpoint/2010/main" val="2980408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750" y="162464"/>
            <a:ext cx="11326483" cy="1174630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Comparison operators</a:t>
            </a:r>
            <a:endParaRPr lang="en-US" sz="44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449991"/>
            <a:ext cx="521969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" panose="020B0604020202020204" pitchFamily="34" charset="0"/>
              </a:rPr>
              <a:t>return </a:t>
            </a:r>
            <a:r>
              <a:rPr lang="en-US" altLang="en-US" sz="2400" i="1" dirty="0">
                <a:solidFill>
                  <a:srgbClr val="FFFF00"/>
                </a:solidFill>
              </a:rPr>
              <a:t>true</a:t>
            </a:r>
            <a:r>
              <a:rPr lang="en-US" altLang="en-US" sz="2400" dirty="0">
                <a:latin typeface="Arial" panose="020B0604020202020204" pitchFamily="34" charset="0"/>
              </a:rPr>
              <a:t> or </a:t>
            </a:r>
            <a:r>
              <a:rPr lang="en-US" altLang="en-US" sz="2400" i="1" dirty="0">
                <a:solidFill>
                  <a:srgbClr val="FFFF00"/>
                </a:solidFill>
              </a:rPr>
              <a:t>false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Used to compare values.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Examples</a:t>
            </a:r>
            <a:r>
              <a:rPr lang="en-US" altLang="en-US" sz="2400" dirty="0" smtClean="0">
                <a:latin typeface="Arial" panose="020B0604020202020204" pitchFamily="34" charset="0"/>
              </a:rPr>
              <a:t>: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400" i="1" dirty="0">
                <a:solidFill>
                  <a:srgbClr val="FFFF00"/>
                </a:solidFill>
              </a:rPr>
              <a:t>==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Equal </a:t>
            </a:r>
            <a:r>
              <a:rPr lang="en-US" altLang="en-US" sz="2400" dirty="0" smtClean="0"/>
              <a:t>value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400" i="1" dirty="0">
                <a:solidFill>
                  <a:srgbClr val="FFFF00"/>
                </a:solidFill>
              </a:rPr>
              <a:t>===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Equal value &amp; </a:t>
            </a:r>
            <a:r>
              <a:rPr lang="en-US" altLang="en-US" sz="2400" dirty="0" smtClean="0"/>
              <a:t>type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400" i="1" dirty="0">
                <a:solidFill>
                  <a:srgbClr val="FFFF00"/>
                </a:solidFill>
              </a:rPr>
              <a:t>!=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Not </a:t>
            </a:r>
            <a:r>
              <a:rPr lang="en-US" altLang="en-US" sz="2400" dirty="0" smtClean="0"/>
              <a:t>equal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400" i="1" dirty="0">
                <a:solidFill>
                  <a:srgbClr val="FFFF00"/>
                </a:solidFill>
              </a:rPr>
              <a:t>&gt;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Greater </a:t>
            </a:r>
            <a:r>
              <a:rPr lang="en-US" altLang="en-US" sz="2400" dirty="0" smtClean="0"/>
              <a:t>than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400" i="1" dirty="0">
                <a:solidFill>
                  <a:srgbClr val="FFFF00"/>
                </a:solidFill>
              </a:rPr>
              <a:t>&lt; </a:t>
            </a:r>
            <a:r>
              <a:rPr lang="en-US" altLang="en-US" sz="2400" dirty="0"/>
              <a:t>Less </a:t>
            </a:r>
            <a:r>
              <a:rPr lang="en-US" altLang="en-US" sz="2400" dirty="0" smtClean="0"/>
              <a:t>than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400" i="1" dirty="0">
                <a:solidFill>
                  <a:srgbClr val="FFFF00"/>
                </a:solidFill>
              </a:rPr>
              <a:t>&gt;=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Greater than or </a:t>
            </a:r>
            <a:r>
              <a:rPr lang="en-US" altLang="en-US" sz="2400" dirty="0" smtClean="0"/>
              <a:t>equal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400" i="1" dirty="0">
                <a:solidFill>
                  <a:srgbClr val="FFFF00"/>
                </a:solidFill>
              </a:rPr>
              <a:t>&lt;=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Less than or equal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Used in conditions and decisions.</a:t>
            </a:r>
          </a:p>
        </p:txBody>
      </p:sp>
    </p:spTree>
    <p:extLst>
      <p:ext uri="{BB962C8B-B14F-4D97-AF65-F5344CB8AC3E}">
        <p14:creationId xmlns:p14="http://schemas.microsoft.com/office/powerpoint/2010/main" val="1681227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28" y="162464"/>
            <a:ext cx="11007306" cy="1174630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4400" b="1" dirty="0" smtClean="0">
                <a:latin typeface="Arial" panose="020B0604020202020204" pitchFamily="34" charset="0"/>
              </a:rPr>
              <a:t>Logical </a:t>
            </a:r>
            <a:r>
              <a:rPr lang="en-US" altLang="en-US" sz="4400" b="1" dirty="0">
                <a:latin typeface="Arial" panose="020B0604020202020204" pitchFamily="34" charset="0"/>
              </a:rPr>
              <a:t>Operators</a:t>
            </a:r>
            <a:endParaRPr lang="en-US" altLang="en-US" sz="4400" b="1" dirty="0"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003989"/>
            <a:ext cx="698300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 smtClean="0">
                <a:latin typeface="Arial" panose="020B0604020202020204" pitchFamily="34" charset="0"/>
              </a:rPr>
              <a:t>Logical </a:t>
            </a:r>
            <a:r>
              <a:rPr lang="en-US" altLang="en-US" sz="2400" dirty="0">
                <a:latin typeface="Arial" panose="020B0604020202020204" pitchFamily="34" charset="0"/>
              </a:rPr>
              <a:t>operators are used to combine conditions</a:t>
            </a:r>
            <a:r>
              <a:rPr lang="en-US" altLang="en-US" sz="2400" dirty="0" smtClean="0"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Types</a:t>
            </a:r>
            <a:r>
              <a:rPr lang="en-US" altLang="en-US" sz="2400" dirty="0" smtClean="0">
                <a:latin typeface="Arial" panose="020B0604020202020204" pitchFamily="34" charset="0"/>
              </a:rPr>
              <a:t>: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 Unicode MS" panose="020B0604020202020204" pitchFamily="34" charset="-128"/>
              </a:rPr>
              <a:t>   </a:t>
            </a:r>
            <a:r>
              <a:rPr lang="en-US" altLang="en-US" sz="2400" i="1" dirty="0">
                <a:solidFill>
                  <a:srgbClr val="FFFF00"/>
                </a:solidFill>
              </a:rPr>
              <a:t>&amp;&amp;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AND → All conditions must be </a:t>
            </a:r>
            <a:r>
              <a:rPr lang="en-US" altLang="en-US" sz="2400" dirty="0" smtClean="0"/>
              <a:t>true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 Unicode MS" panose="020B0604020202020204" pitchFamily="34" charset="-128"/>
              </a:rPr>
              <a:t>   </a:t>
            </a:r>
            <a:r>
              <a:rPr lang="en-US" altLang="en-US" sz="2400" i="1" dirty="0">
                <a:solidFill>
                  <a:srgbClr val="FFFF00"/>
                </a:solidFill>
              </a:rPr>
              <a:t>||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OR → Any one condition </a:t>
            </a:r>
            <a:r>
              <a:rPr lang="en-US" altLang="en-US" sz="2400" dirty="0" smtClean="0"/>
              <a:t>true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 Unicode MS" panose="020B0604020202020204" pitchFamily="34" charset="-128"/>
              </a:rPr>
              <a:t>   </a:t>
            </a:r>
            <a:r>
              <a:rPr lang="en-US" altLang="en-US" sz="2400" i="1" dirty="0">
                <a:solidFill>
                  <a:srgbClr val="FFFF00"/>
                </a:solidFill>
              </a:rPr>
              <a:t>!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NOT → Reverse the result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 smtClean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 smtClean="0">
                <a:latin typeface="Arial" panose="020B0604020202020204" pitchFamily="34" charset="0"/>
              </a:rPr>
              <a:t>Used </a:t>
            </a:r>
            <a:r>
              <a:rPr lang="en-US" altLang="en-US" sz="2400" dirty="0">
                <a:latin typeface="Arial" panose="020B0604020202020204" pitchFamily="34" charset="0"/>
              </a:rPr>
              <a:t>in login systems and validations.</a:t>
            </a:r>
          </a:p>
        </p:txBody>
      </p:sp>
    </p:spTree>
    <p:extLst>
      <p:ext uri="{BB962C8B-B14F-4D97-AF65-F5344CB8AC3E}">
        <p14:creationId xmlns:p14="http://schemas.microsoft.com/office/powerpoint/2010/main" val="4048476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2464"/>
            <a:ext cx="12094234" cy="1174630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4400" b="1" dirty="0" smtClean="0">
                <a:latin typeface="Arial" panose="020B0604020202020204" pitchFamily="34" charset="0"/>
              </a:rPr>
              <a:t>	</a:t>
            </a:r>
            <a:r>
              <a:rPr lang="en-US" altLang="en-US" sz="4000" i="1" dirty="0" smtClean="0">
                <a:solidFill>
                  <a:srgbClr val="FFFF00"/>
                </a:solidFill>
              </a:rPr>
              <a:t>IF</a:t>
            </a:r>
            <a:r>
              <a:rPr lang="en-US" altLang="en-US" sz="4400" b="1" dirty="0" smtClean="0">
                <a:latin typeface="Arial" panose="020B0604020202020204" pitchFamily="34" charset="0"/>
              </a:rPr>
              <a:t> STATEMENT</a:t>
            </a:r>
            <a:endParaRPr lang="en-US" altLang="en-US" sz="4400" b="1" dirty="0"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373322"/>
            <a:ext cx="99405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" panose="020B0604020202020204" pitchFamily="34" charset="0"/>
              </a:rPr>
              <a:t>The </a:t>
            </a:r>
            <a:r>
              <a:rPr lang="en-US" altLang="en-US" sz="2400" dirty="0">
                <a:latin typeface="Arial Unicode MS" panose="020B0604020202020204" pitchFamily="34" charset="-128"/>
              </a:rPr>
              <a:t>if</a:t>
            </a:r>
            <a:r>
              <a:rPr lang="en-US" altLang="en-US" sz="2400" dirty="0"/>
              <a:t> statement executes code </a:t>
            </a:r>
            <a:r>
              <a:rPr lang="en-US" altLang="en-US" sz="2400" b="1" dirty="0">
                <a:latin typeface="Arial" panose="020B0604020202020204" pitchFamily="34" charset="0"/>
              </a:rPr>
              <a:t>only when the condition is true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Example use </a:t>
            </a:r>
            <a:r>
              <a:rPr lang="en-US" altLang="en-US" sz="2400" dirty="0" smtClean="0">
                <a:latin typeface="Arial" panose="020B0604020202020204" pitchFamily="34" charset="0"/>
              </a:rPr>
              <a:t>cases: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Pass </a:t>
            </a:r>
            <a:r>
              <a:rPr lang="en-US" altLang="en-US" sz="2400" dirty="0">
                <a:latin typeface="Arial" panose="020B0604020202020204" pitchFamily="34" charset="0"/>
              </a:rPr>
              <a:t>/ </a:t>
            </a:r>
            <a:r>
              <a:rPr lang="en-US" altLang="en-US" sz="2400" dirty="0" smtClean="0">
                <a:latin typeface="Arial" panose="020B0604020202020204" pitchFamily="34" charset="0"/>
              </a:rPr>
              <a:t>Fail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Age check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Eligibility </a:t>
            </a:r>
            <a:r>
              <a:rPr lang="en-US" altLang="en-US" sz="2400" dirty="0">
                <a:latin typeface="Arial" panose="020B0604020202020204" pitchFamily="34" charset="0"/>
              </a:rPr>
              <a:t>check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If condition is false, code does not run.</a:t>
            </a:r>
          </a:p>
        </p:txBody>
      </p:sp>
    </p:spTree>
    <p:extLst>
      <p:ext uri="{BB962C8B-B14F-4D97-AF65-F5344CB8AC3E}">
        <p14:creationId xmlns:p14="http://schemas.microsoft.com/office/powerpoint/2010/main" val="3154460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2464"/>
            <a:ext cx="12094234" cy="1174630"/>
          </a:xfrm>
        </p:spPr>
        <p:txBody>
          <a:bodyPr/>
          <a:lstStyle/>
          <a:p>
            <a:r>
              <a:rPr lang="en-US" sz="4400" b="1" dirty="0" smtClean="0"/>
              <a:t>		</a:t>
            </a:r>
            <a:r>
              <a:rPr lang="en-US" sz="4000" i="1" dirty="0">
                <a:solidFill>
                  <a:srgbClr val="FFFF00"/>
                </a:solidFill>
              </a:rPr>
              <a:t>IF ELSE </a:t>
            </a:r>
            <a:r>
              <a:rPr lang="en-US" sz="4400" b="1" dirty="0" smtClean="0"/>
              <a:t>&amp; </a:t>
            </a:r>
            <a:r>
              <a:rPr lang="en-US" sz="4000" i="1" dirty="0">
                <a:solidFill>
                  <a:srgbClr val="FFFF00"/>
                </a:solidFill>
              </a:rPr>
              <a:t>ELSE IF </a:t>
            </a:r>
            <a:r>
              <a:rPr lang="en-US" sz="4400" b="1" dirty="0" smtClean="0"/>
              <a:t>STATEMENTS</a:t>
            </a:r>
            <a:endParaRPr lang="en-US" sz="44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37701" y="1803935"/>
            <a:ext cx="5303055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FFFF00"/>
                </a:solidFill>
              </a:rPr>
              <a:t>if else</a:t>
            </a:r>
            <a:r>
              <a:rPr lang="en-US" sz="2400" b="1" dirty="0" smtClean="0"/>
              <a:t>:</a:t>
            </a:r>
            <a:endParaRPr lang="en-US" sz="2400" dirty="0" smtClean="0"/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Two </a:t>
            </a:r>
            <a:r>
              <a:rPr lang="en-US" sz="2400" dirty="0"/>
              <a:t>possible outcomes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rgbClr val="FFFF00"/>
                </a:solidFill>
              </a:rPr>
              <a:t>else </a:t>
            </a:r>
            <a:r>
              <a:rPr lang="en-US" sz="2400" b="1" i="1" dirty="0">
                <a:solidFill>
                  <a:srgbClr val="FFFF00"/>
                </a:solidFill>
              </a:rPr>
              <a:t>if</a:t>
            </a:r>
            <a:r>
              <a:rPr lang="en-US" sz="2400" b="1" dirty="0" smtClean="0"/>
              <a:t>:</a:t>
            </a:r>
            <a:endParaRPr lang="en-US" sz="2400" dirty="0" smtClean="0"/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Multiple conditions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Used </a:t>
            </a:r>
            <a:r>
              <a:rPr lang="en-US" sz="2400" dirty="0"/>
              <a:t>for grading </a:t>
            </a:r>
            <a:r>
              <a:rPr lang="en-US" sz="2400" dirty="0" smtClean="0"/>
              <a:t>systems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Used </a:t>
            </a:r>
            <a:r>
              <a:rPr lang="en-US" sz="2400" dirty="0"/>
              <a:t>in marks, scores, </a:t>
            </a:r>
            <a:r>
              <a:rPr lang="en-US" sz="2400" dirty="0" smtClean="0"/>
              <a:t>ranges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Helps </a:t>
            </a:r>
            <a:r>
              <a:rPr lang="en-US" sz="2400" dirty="0"/>
              <a:t>in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3174211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802922" y="2482118"/>
            <a:ext cx="827273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4400" b="1" dirty="0">
                <a:solidFill>
                  <a:schemeClr val="tx2"/>
                </a:solidFill>
              </a:rPr>
              <a:t>Code example Screen shots from next slide</a:t>
            </a:r>
            <a:endParaRPr lang="en-US" sz="4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867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Arithmetic Operators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66" y="1313243"/>
            <a:ext cx="9525303" cy="532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84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Comparison Operators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05" y="1356943"/>
            <a:ext cx="10300709" cy="486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68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Logical Operators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99" y="1273611"/>
            <a:ext cx="8007053" cy="524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851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If Statement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45" y="1353299"/>
            <a:ext cx="8849335" cy="52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73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If – else Statement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67" y="1284559"/>
            <a:ext cx="8513110" cy="542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87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Else if Statement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30" y="1105316"/>
            <a:ext cx="8290778" cy="558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43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9538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Calculator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250" y="1105317"/>
            <a:ext cx="5857490" cy="558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91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 smtClean="0"/>
              <a:t>Practice </a:t>
            </a:r>
            <a:r>
              <a:rPr lang="en-US" b="1" dirty="0"/>
              <a:t>&amp; Summary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949881"/>
            <a:ext cx="10171529" cy="3483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b="1" dirty="0" smtClean="0"/>
              <a:t>Practice Example:</a:t>
            </a:r>
            <a:endParaRPr lang="en-US" sz="2400" dirty="0" smtClean="0"/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800" dirty="0" smtClean="0"/>
              <a:t>Basic </a:t>
            </a:r>
            <a:r>
              <a:rPr lang="en-US" sz="1800" dirty="0"/>
              <a:t>calculator </a:t>
            </a:r>
            <a:r>
              <a:rPr lang="en-US" sz="1800" dirty="0" smtClean="0"/>
              <a:t>logic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800" dirty="0" smtClean="0"/>
              <a:t>Uses of </a:t>
            </a:r>
            <a:r>
              <a:rPr lang="en-US" sz="1800" dirty="0"/>
              <a:t>operators + conditions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b="1" dirty="0"/>
              <a:t>Today you </a:t>
            </a:r>
            <a:r>
              <a:rPr lang="en-US" sz="2400" b="1" dirty="0" smtClean="0"/>
              <a:t>learned:</a:t>
            </a:r>
            <a:endParaRPr lang="en-US" sz="2400" dirty="0" smtClean="0"/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800" dirty="0" smtClean="0"/>
              <a:t>Arithmetic operators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800" dirty="0" smtClean="0"/>
              <a:t>Comparison operators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800" dirty="0" smtClean="0"/>
              <a:t>Logical operators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i="1" dirty="0">
                <a:solidFill>
                  <a:srgbClr val="FFFF00"/>
                </a:solidFill>
              </a:rPr>
              <a:t>if</a:t>
            </a:r>
            <a:r>
              <a:rPr lang="en-US" sz="2400" i="1" dirty="0">
                <a:solidFill>
                  <a:srgbClr val="FFFF00"/>
                </a:solidFill>
              </a:rPr>
              <a:t>, else, else if</a:t>
            </a:r>
          </a:p>
        </p:txBody>
      </p:sp>
    </p:spTree>
    <p:extLst>
      <p:ext uri="{BB962C8B-B14F-4D97-AF65-F5344CB8AC3E}">
        <p14:creationId xmlns:p14="http://schemas.microsoft.com/office/powerpoint/2010/main" val="575054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755</TotalTime>
  <Words>402</Words>
  <Application>Microsoft Office PowerPoint</Application>
  <PresentationFormat>Widescreen</PresentationFormat>
  <Paragraphs>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 Unicode MS</vt:lpstr>
      <vt:lpstr>Arial</vt:lpstr>
      <vt:lpstr>Century Gothic</vt:lpstr>
      <vt:lpstr>Times New Roman</vt:lpstr>
      <vt:lpstr>Wingdings</vt:lpstr>
      <vt:lpstr>Wingdings 3</vt:lpstr>
      <vt:lpstr>Ion</vt:lpstr>
      <vt:lpstr>بِسْمِ ٱللَّهِ ٱلرَّحْمَٰنِ ٱلرَّحِيمِ</vt:lpstr>
      <vt:lpstr>Course: Web Designing</vt:lpstr>
      <vt:lpstr>Instructor: Muhammad Sahil</vt:lpstr>
      <vt:lpstr>What are Operators in JavaScript?</vt:lpstr>
      <vt:lpstr>Arithmetic Operators</vt:lpstr>
      <vt:lpstr>Comparison operators</vt:lpstr>
      <vt:lpstr>Logical Operators</vt:lpstr>
      <vt:lpstr> IF STATEMENT</vt:lpstr>
      <vt:lpstr>  IF ELSE &amp; ELSE IF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Web Designing</dc:title>
  <dc:creator>Muhammad Sahil</dc:creator>
  <cp:lastModifiedBy>Muhammad Sahil</cp:lastModifiedBy>
  <cp:revision>22</cp:revision>
  <dcterms:created xsi:type="dcterms:W3CDTF">2025-11-16T03:57:59Z</dcterms:created>
  <dcterms:modified xsi:type="dcterms:W3CDTF">2025-12-31T09:59:10Z</dcterms:modified>
</cp:coreProperties>
</file>