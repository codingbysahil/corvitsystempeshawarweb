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7" r:id="rId7"/>
    <p:sldId id="268" r:id="rId8"/>
    <p:sldId id="260" r:id="rId9"/>
    <p:sldId id="261" r:id="rId10"/>
    <p:sldId id="262" r:id="rId11"/>
    <p:sldId id="264" r:id="rId12"/>
    <p:sldId id="263" r:id="rId13"/>
    <p:sldId id="265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0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1</a:t>
            </a:r>
            <a:r>
              <a:rPr lang="en-US" b="1" baseline="30000" dirty="0" smtClean="0"/>
              <a:t>st</a:t>
            </a:r>
            <a:r>
              <a:rPr lang="en-US" b="1" dirty="0" smtClean="0"/>
              <a:t>  class of </a:t>
            </a:r>
            <a:r>
              <a:rPr lang="en-US" b="1" dirty="0" smtClean="0"/>
              <a:t>JS (Java script)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7" y="589880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Introduction to </a:t>
            </a:r>
            <a:r>
              <a:rPr lang="en-US" b="1" dirty="0" err="1" smtClean="0"/>
              <a:t>javascript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981200"/>
          </a:xfrm>
        </p:spPr>
        <p:txBody>
          <a:bodyPr/>
          <a:lstStyle/>
          <a:p>
            <a:r>
              <a:rPr lang="en-US" b="1" dirty="0" smtClean="0"/>
              <a:t>WHAT IS JAVASCRIPT !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457500"/>
            <a:ext cx="7888698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JavaScript (JS) is a programming language used </a:t>
            </a:r>
            <a:r>
              <a:rPr lang="en-US" sz="2400" dirty="0" smtClean="0"/>
              <a:t>to: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Make </a:t>
            </a:r>
            <a:r>
              <a:rPr lang="en-US" sz="2400" dirty="0"/>
              <a:t>websites </a:t>
            </a:r>
            <a:r>
              <a:rPr lang="en-US" sz="2400" dirty="0" smtClean="0"/>
              <a:t>interactive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Respond </a:t>
            </a:r>
            <a:r>
              <a:rPr lang="en-US" sz="2400" dirty="0"/>
              <a:t>to user actions (</a:t>
            </a:r>
            <a:r>
              <a:rPr lang="en-US" sz="2400" i="1" dirty="0">
                <a:solidFill>
                  <a:srgbClr val="FFFF00"/>
                </a:solidFill>
              </a:rPr>
              <a:t>click</a:t>
            </a:r>
            <a:r>
              <a:rPr lang="en-US" sz="2400" dirty="0"/>
              <a:t>, </a:t>
            </a:r>
            <a:r>
              <a:rPr lang="en-US" sz="2400" i="1" dirty="0">
                <a:solidFill>
                  <a:srgbClr val="FFFF00"/>
                </a:solidFill>
              </a:rPr>
              <a:t>type</a:t>
            </a:r>
            <a:r>
              <a:rPr lang="en-US" sz="2400" dirty="0"/>
              <a:t>, </a:t>
            </a:r>
            <a:r>
              <a:rPr lang="en-US" sz="2400" i="1" dirty="0">
                <a:solidFill>
                  <a:srgbClr val="FFFF00"/>
                </a:solidFill>
              </a:rPr>
              <a:t>scroll</a:t>
            </a:r>
            <a:r>
              <a:rPr lang="en-US" sz="2400" dirty="0" smtClean="0"/>
              <a:t>)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Change </a:t>
            </a:r>
            <a:r>
              <a:rPr lang="en-US" sz="2400" dirty="0"/>
              <a:t>HTML and CSS </a:t>
            </a:r>
            <a:r>
              <a:rPr lang="en-US" sz="2400" dirty="0" smtClean="0"/>
              <a:t>dynamically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Perform </a:t>
            </a:r>
            <a:r>
              <a:rPr lang="en-US" sz="2400" dirty="0"/>
              <a:t>calculations and logic</a:t>
            </a:r>
          </a:p>
          <a:p>
            <a:r>
              <a:rPr lang="en-US" sz="2400" dirty="0"/>
              <a:t>JavaScript gives </a:t>
            </a:r>
            <a:r>
              <a:rPr lang="en-US" sz="2400" b="1" dirty="0"/>
              <a:t>life and functionality</a:t>
            </a:r>
            <a:r>
              <a:rPr lang="en-US" sz="2400" dirty="0"/>
              <a:t> to websites.</a:t>
            </a: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r>
              <a:rPr lang="en-US" sz="4400" b="1" dirty="0"/>
              <a:t>HTML, CSS &amp; JavaScript </a:t>
            </a:r>
            <a:r>
              <a:rPr lang="en-US" sz="4400" b="1" dirty="0" smtClean="0"/>
              <a:t>Relationship</a:t>
            </a:r>
            <a:endParaRPr lang="en-US" sz="44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301508"/>
            <a:ext cx="7495963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HTML = Structure (</a:t>
            </a:r>
            <a:r>
              <a:rPr lang="en-US" sz="2400" dirty="0" smtClean="0"/>
              <a:t>Bones)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CSS </a:t>
            </a:r>
            <a:r>
              <a:rPr lang="en-US" sz="2400" dirty="0"/>
              <a:t>= Design (</a:t>
            </a:r>
            <a:r>
              <a:rPr lang="en-US" sz="2400" dirty="0" smtClean="0"/>
              <a:t>Clothes)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JavaScript </a:t>
            </a:r>
            <a:r>
              <a:rPr lang="en-US" sz="2400" dirty="0"/>
              <a:t>= Brain (Thinking &amp; Actions)</a:t>
            </a:r>
          </a:p>
          <a:p>
            <a:pPr>
              <a:buClr>
                <a:schemeClr val="tx1"/>
              </a:buClr>
            </a:pPr>
            <a:endParaRPr lang="en-US" sz="2400" dirty="0"/>
          </a:p>
          <a:p>
            <a:pPr>
              <a:buClr>
                <a:schemeClr val="tx1"/>
              </a:buClr>
            </a:pPr>
            <a:r>
              <a:rPr lang="en-US" sz="2400" dirty="0" smtClean="0"/>
              <a:t>All </a:t>
            </a:r>
            <a:r>
              <a:rPr lang="en-US" sz="2400" dirty="0"/>
              <a:t>three work together to build modern websites.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258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0174"/>
            <a:ext cx="5275704" cy="50378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704" y="1820174"/>
            <a:ext cx="6943510" cy="50378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7804" y="94890"/>
            <a:ext cx="80398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Importance of HTML, CSS, JavaScript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05482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Website Without JavaScript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456777"/>
            <a:ext cx="10171529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tx1"/>
              </a:buClr>
            </a:pPr>
            <a:r>
              <a:rPr lang="en-US" sz="2400" dirty="0"/>
              <a:t>Website is </a:t>
            </a:r>
            <a:r>
              <a:rPr lang="en-US" sz="2400" dirty="0" smtClean="0"/>
              <a:t>static</a:t>
            </a:r>
          </a:p>
          <a:p>
            <a:pPr marL="1257300" lvl="2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 smtClean="0"/>
              <a:t>Only </a:t>
            </a:r>
            <a:r>
              <a:rPr lang="en-US" sz="2400" dirty="0"/>
              <a:t>text and </a:t>
            </a:r>
            <a:r>
              <a:rPr lang="en-US" sz="2400" dirty="0" smtClean="0"/>
              <a:t>images</a:t>
            </a:r>
          </a:p>
          <a:p>
            <a:pPr marL="1257300" lvl="2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 smtClean="0"/>
              <a:t>No interaction</a:t>
            </a:r>
          </a:p>
          <a:p>
            <a:pPr marL="1257300" lvl="2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 smtClean="0"/>
              <a:t>Buttons </a:t>
            </a:r>
            <a:r>
              <a:rPr lang="en-US" sz="2400" dirty="0"/>
              <a:t>do </a:t>
            </a:r>
            <a:r>
              <a:rPr lang="en-US" sz="2400" dirty="0" smtClean="0"/>
              <a:t>nothing</a:t>
            </a:r>
          </a:p>
          <a:p>
            <a:pPr lvl="2">
              <a:buClr>
                <a:schemeClr val="tx1"/>
              </a:buClr>
            </a:pPr>
            <a:r>
              <a:rPr lang="en-US" sz="2400" dirty="0" smtClean="0"/>
              <a:t>Static </a:t>
            </a:r>
            <a:r>
              <a:rPr lang="en-US" sz="2400" dirty="0"/>
              <a:t>websites cannot respond to users.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8012056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Website With JavaScript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207993"/>
            <a:ext cx="1017152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/>
              <a:t>With JavaScript</a:t>
            </a:r>
            <a:r>
              <a:rPr lang="en-US" sz="2400" dirty="0" smtClean="0"/>
              <a:t>:</a:t>
            </a:r>
            <a:endParaRPr lang="en-US" sz="2400" dirty="0"/>
          </a:p>
          <a:p>
            <a:pPr marL="800100" lvl="1" indent="-342900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i="1" dirty="0" smtClean="0">
                <a:solidFill>
                  <a:srgbClr val="FFFF00"/>
                </a:solidFill>
              </a:rPr>
              <a:t>Button</a:t>
            </a:r>
            <a:r>
              <a:rPr lang="en-US" sz="2400" dirty="0" smtClean="0"/>
              <a:t> work</a:t>
            </a:r>
          </a:p>
          <a:p>
            <a:pPr marL="800100" lvl="1" indent="-342900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i="1" dirty="0" smtClean="0">
                <a:solidFill>
                  <a:srgbClr val="FFFF00"/>
                </a:solidFill>
              </a:rPr>
              <a:t>Form</a:t>
            </a:r>
            <a:r>
              <a:rPr lang="en-US" sz="2400" dirty="0" smtClean="0"/>
              <a:t> </a:t>
            </a:r>
            <a:r>
              <a:rPr lang="en-US" sz="2400" dirty="0"/>
              <a:t>validate </a:t>
            </a:r>
            <a:r>
              <a:rPr lang="en-US" sz="2400" dirty="0" smtClean="0"/>
              <a:t>input</a:t>
            </a:r>
          </a:p>
          <a:p>
            <a:pPr marL="800100" lvl="1" indent="-342900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 smtClean="0"/>
              <a:t>Data </a:t>
            </a:r>
            <a:r>
              <a:rPr lang="en-US" sz="2400" dirty="0"/>
              <a:t>updates without page </a:t>
            </a:r>
            <a:r>
              <a:rPr lang="en-US" sz="2400" dirty="0" smtClean="0"/>
              <a:t>reload</a:t>
            </a:r>
          </a:p>
          <a:p>
            <a:pPr marL="800100" lvl="1" indent="-342900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 smtClean="0"/>
              <a:t>User-friendly </a:t>
            </a:r>
            <a:r>
              <a:rPr lang="en-US" sz="2400" dirty="0"/>
              <a:t>experience</a:t>
            </a:r>
          </a:p>
          <a:p>
            <a:pPr marL="342900" indent="-342900">
              <a:buClr>
                <a:schemeClr val="tx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400" dirty="0"/>
              <a:t>JavaScript makes websites </a:t>
            </a:r>
            <a:r>
              <a:rPr lang="en-US" sz="2400" b="1" dirty="0"/>
              <a:t>dynamic and interactive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03413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Where is JavaScript </a:t>
            </a:r>
            <a:r>
              <a:rPr lang="en-US" b="1" dirty="0"/>
              <a:t>Used .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959207"/>
            <a:ext cx="10171529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JavaScript is used </a:t>
            </a:r>
            <a:r>
              <a:rPr lang="en-US" sz="2400" dirty="0" smtClean="0"/>
              <a:t>in: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Web </a:t>
            </a:r>
            <a:r>
              <a:rPr lang="en-US" sz="2400" dirty="0"/>
              <a:t>browsers (</a:t>
            </a:r>
            <a:r>
              <a:rPr lang="en-US" sz="2400" dirty="0" smtClean="0"/>
              <a:t>Frontend)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Servers </a:t>
            </a:r>
            <a:r>
              <a:rPr lang="en-US" sz="2400" dirty="0"/>
              <a:t>(Node.js Backend</a:t>
            </a:r>
            <a:r>
              <a:rPr lang="en-US" sz="2400" dirty="0" smtClean="0"/>
              <a:t>)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Mobile applications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Games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Desktop </a:t>
            </a:r>
            <a:r>
              <a:rPr lang="en-US" sz="2400" dirty="0"/>
              <a:t>applications</a:t>
            </a:r>
          </a:p>
          <a:p>
            <a:r>
              <a:rPr lang="en-US" sz="2400" dirty="0"/>
              <a:t>JavaScript is one of the most powerful and popular languages.</a:t>
            </a:r>
          </a:p>
        </p:txBody>
      </p:sp>
    </p:spTree>
    <p:extLst>
      <p:ext uri="{BB962C8B-B14F-4D97-AF65-F5344CB8AC3E}">
        <p14:creationId xmlns:p14="http://schemas.microsoft.com/office/powerpoint/2010/main" val="315161523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993" y="206547"/>
            <a:ext cx="7032561" cy="681974"/>
          </a:xfrm>
        </p:spPr>
        <p:txBody>
          <a:bodyPr>
            <a:noAutofit/>
          </a:bodyPr>
          <a:lstStyle/>
          <a:p>
            <a:r>
              <a:rPr lang="en-US" sz="4800" b="1" dirty="0"/>
              <a:t>How to Add JavaScript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63580" y="1512911"/>
            <a:ext cx="8925981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There are three ways to add JavaScript: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Inline JavaScript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Internal JavaScript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External JavaScript</a:t>
            </a:r>
          </a:p>
          <a:p>
            <a:r>
              <a:rPr lang="en-US" sz="2400" dirty="0"/>
              <a:t>Each method has its own use case.</a:t>
            </a:r>
          </a:p>
        </p:txBody>
      </p:sp>
    </p:spTree>
    <p:extLst>
      <p:ext uri="{BB962C8B-B14F-4D97-AF65-F5344CB8AC3E}">
        <p14:creationId xmlns:p14="http://schemas.microsoft.com/office/powerpoint/2010/main" val="38440455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Inline JavaScript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207993"/>
            <a:ext cx="1017152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Inline </a:t>
            </a:r>
            <a:r>
              <a:rPr lang="en-US" sz="2400" dirty="0" smtClean="0"/>
              <a:t>JavaScript: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Written directly inside HTML tags</a:t>
            </a:r>
            <a:endParaRPr lang="en-US" sz="2400" dirty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Runs on user actions</a:t>
            </a:r>
            <a:endParaRPr lang="en-US" sz="2400" dirty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Not recommended for large projects</a:t>
            </a:r>
            <a:endParaRPr lang="en-US" sz="2400" dirty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Useful only </a:t>
            </a:r>
            <a:r>
              <a:rPr lang="en-US" sz="2400" dirty="0"/>
              <a:t>for small demos</a:t>
            </a:r>
          </a:p>
          <a:p>
            <a:r>
              <a:rPr lang="en-US" sz="2400" dirty="0"/>
              <a:t>Example: Button click alert or prompt.</a:t>
            </a:r>
          </a:p>
        </p:txBody>
      </p:sp>
    </p:spTree>
    <p:extLst>
      <p:ext uri="{BB962C8B-B14F-4D97-AF65-F5344CB8AC3E}">
        <p14:creationId xmlns:p14="http://schemas.microsoft.com/office/powerpoint/2010/main" val="34672856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Internal JavaScript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537220"/>
            <a:ext cx="101715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Internal </a:t>
            </a:r>
            <a:r>
              <a:rPr lang="en-US" altLang="en-US" sz="2400" dirty="0" smtClean="0">
                <a:latin typeface="Arial" panose="020B0604020202020204" pitchFamily="34" charset="0"/>
              </a:rPr>
              <a:t>JavaScript: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Written </a:t>
            </a:r>
            <a:r>
              <a:rPr lang="en-US" altLang="en-US" sz="2400" dirty="0">
                <a:latin typeface="Arial" panose="020B0604020202020204" pitchFamily="34" charset="0"/>
              </a:rPr>
              <a:t>inside </a:t>
            </a:r>
            <a:r>
              <a:rPr lang="en-US" altLang="en-US" sz="2400" b="1" i="1" dirty="0">
                <a:solidFill>
                  <a:srgbClr val="FFFF00"/>
                </a:solidFill>
              </a:rPr>
              <a:t>&lt;script&gt; </a:t>
            </a:r>
            <a:r>
              <a:rPr lang="en-US" altLang="en-US" sz="2400" dirty="0" smtClean="0"/>
              <a:t>tag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Placed </a:t>
            </a:r>
            <a:r>
              <a:rPr lang="en-US" altLang="en-US" sz="2400" dirty="0"/>
              <a:t>inside the same HTML </a:t>
            </a:r>
            <a:r>
              <a:rPr lang="en-US" altLang="en-US" sz="2400" dirty="0" smtClean="0"/>
              <a:t>file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Mostly </a:t>
            </a:r>
            <a:r>
              <a:rPr lang="en-US" altLang="en-US" sz="2400" dirty="0"/>
              <a:t>used for learning and </a:t>
            </a:r>
            <a:r>
              <a:rPr lang="en-US" altLang="en-US" sz="2400" dirty="0" smtClean="0"/>
              <a:t>practice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Browser </a:t>
            </a:r>
            <a:r>
              <a:rPr lang="en-US" altLang="en-US" sz="2400" dirty="0"/>
              <a:t>reads JavaScript line by line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Good choice for beginners.</a:t>
            </a:r>
          </a:p>
        </p:txBody>
      </p:sp>
    </p:spTree>
    <p:extLst>
      <p:ext uri="{BB962C8B-B14F-4D97-AF65-F5344CB8AC3E}">
        <p14:creationId xmlns:p14="http://schemas.microsoft.com/office/powerpoint/2010/main" val="6816080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JavaScript Comments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798556"/>
            <a:ext cx="1017152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Comments are ignored by the </a:t>
            </a:r>
            <a:r>
              <a:rPr lang="en-US" altLang="en-US" sz="2400" dirty="0" smtClean="0">
                <a:latin typeface="Arial" panose="020B0604020202020204" pitchFamily="34" charset="0"/>
              </a:rPr>
              <a:t>browser.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They </a:t>
            </a:r>
            <a:r>
              <a:rPr lang="en-US" altLang="en-US" sz="2400" dirty="0">
                <a:latin typeface="Arial" panose="020B0604020202020204" pitchFamily="34" charset="0"/>
              </a:rPr>
              <a:t>are used </a:t>
            </a:r>
            <a:r>
              <a:rPr lang="en-US" altLang="en-US" sz="2400" dirty="0" smtClean="0">
                <a:latin typeface="Arial" panose="020B0604020202020204" pitchFamily="34" charset="0"/>
              </a:rPr>
              <a:t>for: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Explanation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Notes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Debugging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Types of </a:t>
            </a:r>
            <a:r>
              <a:rPr lang="en-US" altLang="en-US" sz="2400" dirty="0" smtClean="0">
                <a:latin typeface="Arial" panose="020B0604020202020204" pitchFamily="34" charset="0"/>
              </a:rPr>
              <a:t>comments: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 smtClean="0">
                <a:latin typeface="Arial" panose="020B0604020202020204" pitchFamily="34" charset="0"/>
              </a:rPr>
              <a:t>Single-line </a:t>
            </a:r>
            <a:r>
              <a:rPr lang="en-US" altLang="en-US" sz="2400" dirty="0">
                <a:latin typeface="Arial" panose="020B0604020202020204" pitchFamily="34" charset="0"/>
              </a:rPr>
              <a:t>comment </a:t>
            </a:r>
            <a:r>
              <a:rPr lang="en-US" altLang="en-US" sz="2400" dirty="0" smtClean="0">
                <a:latin typeface="Arial" panose="020B0604020202020204" pitchFamily="34" charset="0"/>
              </a:rPr>
              <a:t>(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// this is single line comment</a:t>
            </a:r>
            <a:r>
              <a:rPr lang="en-US" altLang="en-US" sz="2400" dirty="0" smtClean="0"/>
              <a:t>)</a:t>
            </a:r>
          </a:p>
          <a:p>
            <a:pPr marL="685800" lvl="1" indent="-2286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dirty="0" smtClean="0"/>
              <a:t>  Multi-line </a:t>
            </a:r>
            <a:r>
              <a:rPr lang="en-US" altLang="en-US" sz="2400" dirty="0"/>
              <a:t>comment </a:t>
            </a:r>
            <a:r>
              <a:rPr lang="en-US" altLang="en-US" sz="2400" dirty="0" smtClean="0"/>
              <a:t>(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/*this is </a:t>
            </a:r>
            <a:r>
              <a:rPr lang="en-US" altLang="en-US" sz="2400" i="1" dirty="0" err="1" smtClean="0">
                <a:solidFill>
                  <a:srgbClr val="FFFF00"/>
                </a:solidFill>
              </a:rPr>
              <a:t>multilines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i="1" dirty="0" smtClean="0">
                <a:solidFill>
                  <a:srgbClr val="FFFF00"/>
                </a:solidFill>
              </a:rPr>
              <a:t>Comment</a:t>
            </a:r>
            <a:br>
              <a:rPr lang="en-US" altLang="en-US" sz="2400" i="1" dirty="0" smtClean="0">
                <a:solidFill>
                  <a:srgbClr val="FFFF00"/>
                </a:solidFill>
              </a:rPr>
            </a:br>
            <a:r>
              <a:rPr lang="en-US" altLang="en-US" sz="2400" i="1" dirty="0" smtClean="0">
                <a:solidFill>
                  <a:srgbClr val="FFFF00"/>
                </a:solidFill>
              </a:rPr>
              <a:t>you can write </a:t>
            </a:r>
            <a:r>
              <a:rPr lang="en-US" altLang="en-US" sz="2400" i="1" dirty="0" err="1" smtClean="0">
                <a:solidFill>
                  <a:srgbClr val="FFFF00"/>
                </a:solidFill>
              </a:rPr>
              <a:t>multitple</a:t>
            </a:r>
            <a:r>
              <a:rPr lang="en-US" altLang="en-US" sz="2400" i="1" dirty="0" smtClean="0">
                <a:solidFill>
                  <a:srgbClr val="FFFF00"/>
                </a:solidFill>
              </a:rPr>
              <a:t> lines </a:t>
            </a:r>
            <a:r>
              <a:rPr lang="en-US" altLang="en-US" sz="2400" i="1" dirty="0">
                <a:solidFill>
                  <a:srgbClr val="FFFF00"/>
                </a:solidFill>
              </a:rPr>
              <a:t>*/</a:t>
            </a:r>
            <a:r>
              <a:rPr lang="en-US" altLang="en-US" sz="2400" dirty="0" smtClean="0"/>
              <a:t>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54340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sz="3600" b="1" i="1" dirty="0">
                <a:solidFill>
                  <a:srgbClr val="FFFF00"/>
                </a:solidFill>
              </a:rPr>
              <a:t>console.log</a:t>
            </a:r>
            <a:r>
              <a:rPr lang="en-US" sz="3600" b="1" i="1" dirty="0" smtClean="0">
                <a:solidFill>
                  <a:srgbClr val="FFFF00"/>
                </a:solidFill>
              </a:rPr>
              <a:t>( )</a:t>
            </a:r>
            <a:endParaRPr lang="en-US" sz="3600" b="1" i="1" dirty="0">
              <a:solidFill>
                <a:srgbClr val="FFFF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721887"/>
            <a:ext cx="101715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i="1" dirty="0">
                <a:solidFill>
                  <a:srgbClr val="FFFF00"/>
                </a:solidFill>
              </a:rPr>
              <a:t>console.log</a:t>
            </a:r>
            <a:r>
              <a:rPr lang="en-US" altLang="en-US" sz="2400" b="1" i="1" dirty="0" smtClean="0">
                <a:solidFill>
                  <a:srgbClr val="FFFF00"/>
                </a:solidFill>
              </a:rPr>
              <a:t>( )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is used </a:t>
            </a:r>
            <a:r>
              <a:rPr lang="en-US" altLang="en-US" sz="2400" dirty="0" smtClean="0"/>
              <a:t>to: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Print </a:t>
            </a:r>
            <a:r>
              <a:rPr lang="en-US" altLang="en-US" sz="2400" dirty="0"/>
              <a:t>output in browser </a:t>
            </a:r>
            <a:r>
              <a:rPr lang="en-US" altLang="en-US" sz="2400" dirty="0" smtClean="0"/>
              <a:t>console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Test code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Debug errors</a:t>
            </a:r>
            <a:endParaRPr lang="en-US" altLang="en-US" sz="2400" dirty="0" smtClean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Console </a:t>
            </a:r>
            <a:r>
              <a:rPr lang="en-US" altLang="en-US" sz="2400" dirty="0">
                <a:latin typeface="Arial" panose="020B0604020202020204" pitchFamily="34" charset="0"/>
              </a:rPr>
              <a:t>is a developer tool.</a:t>
            </a:r>
          </a:p>
        </p:txBody>
      </p:sp>
    </p:spTree>
    <p:extLst>
      <p:ext uri="{BB962C8B-B14F-4D97-AF65-F5344CB8AC3E}">
        <p14:creationId xmlns:p14="http://schemas.microsoft.com/office/powerpoint/2010/main" val="20649338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How to Open Browser Console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465407"/>
            <a:ext cx="10171529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Steps to open </a:t>
            </a:r>
            <a:r>
              <a:rPr lang="en-US" sz="2400" dirty="0" smtClean="0"/>
              <a:t>console: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 smtClean="0"/>
              <a:t>Right-click </a:t>
            </a:r>
            <a:r>
              <a:rPr lang="en-US" sz="2400" dirty="0"/>
              <a:t>on </a:t>
            </a:r>
            <a:r>
              <a:rPr lang="en-US" sz="2400" dirty="0" smtClean="0"/>
              <a:t>webpage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 smtClean="0"/>
              <a:t>Click </a:t>
            </a:r>
            <a:r>
              <a:rPr lang="en-US" sz="2400" b="1" dirty="0" smtClean="0"/>
              <a:t>Inspect</a:t>
            </a:r>
            <a:endParaRPr lang="en-US" sz="2400" dirty="0" smtClean="0"/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400" dirty="0" smtClean="0"/>
              <a:t>Open </a:t>
            </a:r>
            <a:r>
              <a:rPr lang="en-US" sz="2400" b="1" dirty="0"/>
              <a:t>Console</a:t>
            </a:r>
            <a:r>
              <a:rPr lang="en-US" sz="2400" dirty="0"/>
              <a:t> tab</a:t>
            </a:r>
          </a:p>
          <a:p>
            <a:r>
              <a:rPr lang="en-US" sz="2400" dirty="0"/>
              <a:t>Used by developers to test JavaScript.</a:t>
            </a:r>
          </a:p>
        </p:txBody>
      </p:sp>
    </p:spTree>
    <p:extLst>
      <p:ext uri="{BB962C8B-B14F-4D97-AF65-F5344CB8AC3E}">
        <p14:creationId xmlns:p14="http://schemas.microsoft.com/office/powerpoint/2010/main" val="8583122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Variables in JavaScript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465406"/>
            <a:ext cx="10171529" cy="245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Variable </a:t>
            </a:r>
            <a:r>
              <a:rPr lang="en-US" sz="2400" dirty="0"/>
              <a:t>is a container to store </a:t>
            </a:r>
            <a:r>
              <a:rPr lang="en-US" sz="2400" dirty="0" smtClean="0"/>
              <a:t>data.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Examples: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FFFF00"/>
                </a:solidFill>
              </a:rPr>
              <a:t>name </a:t>
            </a:r>
            <a:r>
              <a:rPr lang="en-US" sz="2400" i="1" dirty="0">
                <a:solidFill>
                  <a:srgbClr val="FFFF00"/>
                </a:solidFill>
              </a:rPr>
              <a:t>= "</a:t>
            </a:r>
            <a:r>
              <a:rPr lang="en-US" sz="2400" i="1" dirty="0">
                <a:solidFill>
                  <a:srgbClr val="FFFF00"/>
                </a:solidFill>
              </a:rPr>
              <a:t>Ali“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FFFF00"/>
                </a:solidFill>
              </a:rPr>
              <a:t>age </a:t>
            </a:r>
            <a:r>
              <a:rPr lang="en-US" sz="2400" i="1" dirty="0">
                <a:solidFill>
                  <a:srgbClr val="FFFF00"/>
                </a:solidFill>
              </a:rPr>
              <a:t>= 20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Variables store numbers, text, and more.</a:t>
            </a:r>
          </a:p>
        </p:txBody>
      </p:sp>
    </p:spTree>
    <p:extLst>
      <p:ext uri="{BB962C8B-B14F-4D97-AF65-F5344CB8AC3E}">
        <p14:creationId xmlns:p14="http://schemas.microsoft.com/office/powerpoint/2010/main" val="8391739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Variable Keywords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906554"/>
            <a:ext cx="101715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85800" lvl="0" indent="-6858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JavaScript has three variable </a:t>
            </a:r>
            <a:r>
              <a:rPr lang="en-US" altLang="en-US" sz="2400" dirty="0" smtClean="0">
                <a:latin typeface="Arial" panose="020B0604020202020204" pitchFamily="34" charset="0"/>
              </a:rPr>
              <a:t>keywords: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i="1" dirty="0" err="1">
                <a:solidFill>
                  <a:srgbClr val="FFFF00"/>
                </a:solidFill>
              </a:rPr>
              <a:t>var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– Old, avoid </a:t>
            </a:r>
            <a:r>
              <a:rPr lang="en-US" altLang="en-US" sz="2400" dirty="0" smtClean="0"/>
              <a:t>using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i="1" dirty="0">
                <a:solidFill>
                  <a:srgbClr val="FFFF00"/>
                </a:solidFill>
              </a:rPr>
              <a:t>let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– Modern, </a:t>
            </a:r>
            <a:r>
              <a:rPr lang="en-US" altLang="en-US" sz="2400" dirty="0" smtClean="0"/>
              <a:t>recommended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i="1" dirty="0" err="1">
                <a:solidFill>
                  <a:srgbClr val="FFFF00"/>
                </a:solidFill>
              </a:rPr>
              <a:t>const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– Constant value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6594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Data Types in JavaScript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937057"/>
            <a:ext cx="10171529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Primitive data types </a:t>
            </a:r>
            <a:r>
              <a:rPr lang="en-US" sz="2400" dirty="0" smtClean="0"/>
              <a:t>include:</a:t>
            </a:r>
          </a:p>
          <a:p>
            <a:pPr marL="914400" lvl="1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FFFF00"/>
                </a:solidFill>
              </a:rPr>
              <a:t>Number</a:t>
            </a:r>
          </a:p>
          <a:p>
            <a:pPr marL="914400" lvl="1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FFFF00"/>
                </a:solidFill>
              </a:rPr>
              <a:t>String</a:t>
            </a:r>
          </a:p>
          <a:p>
            <a:pPr marL="914400" lvl="1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FFFF00"/>
                </a:solidFill>
              </a:rPr>
              <a:t>Boolean</a:t>
            </a:r>
          </a:p>
          <a:p>
            <a:pPr marL="914400" lvl="1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FFFF00"/>
                </a:solidFill>
              </a:rPr>
              <a:t>Undefined</a:t>
            </a:r>
          </a:p>
          <a:p>
            <a:pPr marL="914400" lvl="1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i="1" dirty="0">
                <a:solidFill>
                  <a:srgbClr val="FFFF00"/>
                </a:solidFill>
              </a:rPr>
              <a:t>Null</a:t>
            </a:r>
            <a:endParaRPr lang="en-US" sz="2400" i="1" dirty="0">
              <a:solidFill>
                <a:srgbClr val="FFFF00"/>
              </a:solidFill>
            </a:endParaRPr>
          </a:p>
          <a:p>
            <a:r>
              <a:rPr lang="en-US" sz="2400" dirty="0"/>
              <a:t>Used to represent different kinds of data.</a:t>
            </a:r>
          </a:p>
        </p:txBody>
      </p:sp>
    </p:spTree>
    <p:extLst>
      <p:ext uri="{BB962C8B-B14F-4D97-AF65-F5344CB8AC3E}">
        <p14:creationId xmlns:p14="http://schemas.microsoft.com/office/powerpoint/2010/main" val="22764094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 err="1"/>
              <a:t>typeof</a:t>
            </a:r>
            <a:r>
              <a:rPr lang="en-US" b="1" dirty="0"/>
              <a:t> Operator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721887"/>
            <a:ext cx="101715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i="1" dirty="0" err="1">
                <a:solidFill>
                  <a:srgbClr val="FFFF00"/>
                </a:solidFill>
              </a:rPr>
              <a:t>typeof</a:t>
            </a:r>
            <a:r>
              <a:rPr lang="en-US" altLang="en-US" sz="2400" dirty="0"/>
              <a:t> checks the data type of a </a:t>
            </a:r>
            <a:r>
              <a:rPr lang="en-US" altLang="en-US" sz="2400" dirty="0" smtClean="0"/>
              <a:t>variable.</a:t>
            </a:r>
          </a:p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/>
              <a:t>Examples: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 err="1">
                <a:solidFill>
                  <a:srgbClr val="FFFF00"/>
                </a:solidFill>
              </a:rPr>
              <a:t>typeof</a:t>
            </a:r>
            <a:r>
              <a:rPr lang="en-US" altLang="en-US" sz="2400" i="1" dirty="0">
                <a:solidFill>
                  <a:srgbClr val="FFFF00"/>
                </a:solidFill>
              </a:rPr>
              <a:t> </a:t>
            </a:r>
            <a:r>
              <a:rPr lang="en-US" altLang="en-US" sz="2400" i="1" dirty="0">
                <a:solidFill>
                  <a:srgbClr val="FFFF00"/>
                </a:solidFill>
              </a:rPr>
              <a:t>10 </a:t>
            </a:r>
            <a:r>
              <a:rPr lang="en-US" altLang="en-US" sz="2400" dirty="0"/>
              <a:t>→ </a:t>
            </a:r>
            <a:r>
              <a:rPr lang="en-US" altLang="en-US" sz="2400" i="1" dirty="0">
                <a:solidFill>
                  <a:srgbClr val="FFFF00"/>
                </a:solidFill>
              </a:rPr>
              <a:t>number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 err="1">
                <a:solidFill>
                  <a:srgbClr val="FFFF00"/>
                </a:solidFill>
              </a:rPr>
              <a:t>typeof</a:t>
            </a:r>
            <a:r>
              <a:rPr lang="en-US" altLang="en-US" sz="2400" i="1" dirty="0">
                <a:solidFill>
                  <a:srgbClr val="FFFF00"/>
                </a:solidFill>
              </a:rPr>
              <a:t> </a:t>
            </a:r>
            <a:r>
              <a:rPr lang="en-US" altLang="en-US" sz="2400" i="1" dirty="0">
                <a:solidFill>
                  <a:srgbClr val="FFFF00"/>
                </a:solidFill>
              </a:rPr>
              <a:t>"Sahil" </a:t>
            </a:r>
            <a:r>
              <a:rPr lang="en-US" altLang="en-US" sz="2400" dirty="0"/>
              <a:t>→ </a:t>
            </a:r>
            <a:r>
              <a:rPr lang="en-US" altLang="en-US" sz="2400" i="1" dirty="0">
                <a:solidFill>
                  <a:srgbClr val="FFFF00"/>
                </a:solidFill>
              </a:rPr>
              <a:t>string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i="1" dirty="0" err="1">
                <a:solidFill>
                  <a:srgbClr val="FFFF00"/>
                </a:solidFill>
              </a:rPr>
              <a:t>typeof</a:t>
            </a:r>
            <a:r>
              <a:rPr lang="en-US" altLang="en-US" sz="2400" i="1" dirty="0">
                <a:solidFill>
                  <a:srgbClr val="FFFF00"/>
                </a:solidFill>
              </a:rPr>
              <a:t> </a:t>
            </a:r>
            <a:r>
              <a:rPr lang="en-US" altLang="en-US" sz="2400" i="1" dirty="0">
                <a:solidFill>
                  <a:srgbClr val="FFFF00"/>
                </a:solidFill>
              </a:rPr>
              <a:t>true </a:t>
            </a:r>
            <a:r>
              <a:rPr lang="en-US" altLang="en-US" sz="2400" dirty="0"/>
              <a:t>→ </a:t>
            </a:r>
            <a:r>
              <a:rPr lang="en-US" altLang="en-US" sz="2400" i="1" dirty="0" err="1">
                <a:solidFill>
                  <a:srgbClr val="FFFF00"/>
                </a:solidFill>
              </a:rPr>
              <a:t>boolean</a:t>
            </a:r>
            <a:endParaRPr lang="en-US" altLang="en-US" sz="2400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8809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Assigment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45848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906553"/>
            <a:ext cx="101715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b="1" dirty="0"/>
              <a:t>Today you </a:t>
            </a:r>
            <a:r>
              <a:rPr lang="en-US" sz="2400" b="1" dirty="0" smtClean="0"/>
              <a:t>learned:</a:t>
            </a:r>
            <a:endParaRPr lang="en-US" sz="2400" dirty="0" smtClean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2400" dirty="0" smtClean="0"/>
              <a:t>JavaScript basics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2400" dirty="0" smtClean="0"/>
              <a:t>Importance </a:t>
            </a:r>
            <a:r>
              <a:rPr lang="en-US" sz="2400" dirty="0"/>
              <a:t>of </a:t>
            </a:r>
            <a:r>
              <a:rPr lang="en-US" sz="2400" dirty="0" smtClean="0"/>
              <a:t>JavaScript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sz="2400" dirty="0" smtClean="0"/>
              <a:t>Variables </a:t>
            </a:r>
            <a:r>
              <a:rPr lang="en-US" sz="2400" dirty="0"/>
              <a:t>&amp; data types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708</TotalTime>
  <Words>572</Words>
  <Application>Microsoft Office PowerPoint</Application>
  <PresentationFormat>Widescreen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Century Gothic</vt:lpstr>
      <vt:lpstr>Courier New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WHAT IS JAVASCRIPT !</vt:lpstr>
      <vt:lpstr>HTML, CSS &amp; JavaScript Relationship</vt:lpstr>
      <vt:lpstr>PowerPoint Presentation</vt:lpstr>
      <vt:lpstr>PowerPoint Presentation</vt:lpstr>
      <vt:lpstr>Website Without JavaScript</vt:lpstr>
      <vt:lpstr>Website With JavaScript</vt:lpstr>
      <vt:lpstr>Where is JavaScript Used .</vt:lpstr>
      <vt:lpstr>How to Add JavaScript</vt:lpstr>
      <vt:lpstr>Inline JavaScript</vt:lpstr>
      <vt:lpstr>Internal JavaScript</vt:lpstr>
      <vt:lpstr>JavaScript Comments</vt:lpstr>
      <vt:lpstr>console.log( )</vt:lpstr>
      <vt:lpstr>How to Open Browser Console</vt:lpstr>
      <vt:lpstr>Variables in JavaScript</vt:lpstr>
      <vt:lpstr>Variable Keywords</vt:lpstr>
      <vt:lpstr>Data Types in JavaScript</vt:lpstr>
      <vt:lpstr>typeof Operator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17</cp:revision>
  <dcterms:created xsi:type="dcterms:W3CDTF">2025-11-16T03:57:59Z</dcterms:created>
  <dcterms:modified xsi:type="dcterms:W3CDTF">2025-12-30T10:51:41Z</dcterms:modified>
</cp:coreProperties>
</file>