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9" r:id="rId7"/>
    <p:sldId id="280" r:id="rId8"/>
    <p:sldId id="281" r:id="rId9"/>
    <p:sldId id="282" r:id="rId10"/>
    <p:sldId id="290" r:id="rId11"/>
    <p:sldId id="291" r:id="rId12"/>
    <p:sldId id="289" r:id="rId13"/>
    <p:sldId id="270" r:id="rId14"/>
    <p:sldId id="283" r:id="rId15"/>
    <p:sldId id="284" r:id="rId16"/>
    <p:sldId id="285" r:id="rId17"/>
    <p:sldId id="286" r:id="rId18"/>
    <p:sldId id="287" r:id="rId19"/>
    <p:sldId id="288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2</a:t>
            </a:r>
            <a:r>
              <a:rPr lang="en-US" b="1" baseline="30000" dirty="0" smtClean="0"/>
              <a:t>nd</a:t>
            </a:r>
            <a:r>
              <a:rPr lang="en-US" b="1" dirty="0" smtClean="0"/>
              <a:t>  class of 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Topic : </a:t>
            </a:r>
            <a:r>
              <a:rPr lang="en-US" b="1" dirty="0" smtClean="0"/>
              <a:t>JavaScript function and events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sz="4400" b="1" dirty="0" smtClean="0">
                <a:latin typeface="Arial" panose="020B0604020202020204" pitchFamily="34" charset="0"/>
              </a:rPr>
              <a:t>What </a:t>
            </a:r>
            <a:r>
              <a:rPr lang="en-US" sz="4400" b="1" dirty="0">
                <a:latin typeface="Arial" panose="020B0604020202020204" pitchFamily="34" charset="0"/>
              </a:rPr>
              <a:t>is a Function?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82426" y="2466790"/>
            <a:ext cx="862740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 </a:t>
            </a:r>
            <a:r>
              <a:rPr lang="en-US" sz="2400" dirty="0">
                <a:solidFill>
                  <a:srgbClr val="FFFF00"/>
                </a:solidFill>
              </a:rPr>
              <a:t>function</a:t>
            </a:r>
            <a:r>
              <a:rPr lang="en-US" sz="2400" dirty="0"/>
              <a:t> is a block of code </a:t>
            </a:r>
            <a:r>
              <a:rPr lang="en-US" sz="2400" dirty="0" smtClean="0"/>
              <a:t>that can 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Performs </a:t>
            </a:r>
            <a:r>
              <a:rPr lang="en-US" sz="2400" dirty="0"/>
              <a:t>a specific </a:t>
            </a:r>
            <a:r>
              <a:rPr lang="en-US" sz="2400" dirty="0" smtClean="0"/>
              <a:t>task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Runs </a:t>
            </a:r>
            <a:r>
              <a:rPr lang="en-US" sz="2400" dirty="0"/>
              <a:t>only when it is </a:t>
            </a:r>
            <a:r>
              <a:rPr lang="en-US" sz="2400" dirty="0" smtClean="0"/>
              <a:t>called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Helps </a:t>
            </a:r>
            <a:r>
              <a:rPr lang="en-US" sz="2400" dirty="0"/>
              <a:t>reduce code repetition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Functions make code </a:t>
            </a:r>
            <a:r>
              <a:rPr lang="en-US" sz="2400" b="1" dirty="0"/>
              <a:t>clean, reusable, and organized</a:t>
            </a:r>
            <a:r>
              <a:rPr lang="en-US" sz="2400" dirty="0" smtClean="0"/>
              <a:t>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Any keyword end with ( ) is a function in </a:t>
            </a:r>
            <a:r>
              <a:rPr lang="en-US" sz="2400" dirty="0" err="1" smtClean="0"/>
              <a:t>js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826" y="162464"/>
            <a:ext cx="11628408" cy="1174630"/>
          </a:xfrm>
        </p:spPr>
        <p:txBody>
          <a:bodyPr/>
          <a:lstStyle/>
          <a:p>
            <a:r>
              <a:rPr lang="en-US" sz="4400" b="1" dirty="0" smtClean="0">
                <a:latin typeface="Arial" panose="020B0604020202020204" pitchFamily="34" charset="0"/>
              </a:rPr>
              <a:t>Function </a:t>
            </a:r>
            <a:r>
              <a:rPr lang="en-US" sz="4400" b="1" dirty="0">
                <a:latin typeface="Arial" panose="020B0604020202020204" pitchFamily="34" charset="0"/>
              </a:rPr>
              <a:t>Declaration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619270"/>
            <a:ext cx="911446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Defining anything in </a:t>
            </a:r>
            <a:r>
              <a:rPr lang="en-US" sz="2400" dirty="0" err="1" smtClean="0"/>
              <a:t>js</a:t>
            </a:r>
            <a:r>
              <a:rPr lang="en-US" sz="2400" dirty="0" smtClean="0"/>
              <a:t> is called declaration </a:t>
            </a:r>
            <a:r>
              <a:rPr lang="en-US" sz="2400" dirty="0" err="1" smtClean="0"/>
              <a:t>i.e</a:t>
            </a:r>
            <a:r>
              <a:rPr lang="en-US" sz="2400" dirty="0" smtClean="0"/>
              <a:t> variable declaration ,function declaration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 simple function without parameters.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Example concept: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Function </a:t>
            </a:r>
            <a:r>
              <a:rPr lang="en-US" sz="2400" dirty="0"/>
              <a:t>is </a:t>
            </a:r>
            <a:r>
              <a:rPr lang="en-US" sz="2400" dirty="0" smtClean="0"/>
              <a:t>defined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Function </a:t>
            </a:r>
            <a:r>
              <a:rPr lang="en-US" sz="2400" dirty="0"/>
              <a:t>is </a:t>
            </a:r>
            <a:r>
              <a:rPr lang="en-US" sz="2400" dirty="0" smtClean="0"/>
              <a:t>called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Code </a:t>
            </a:r>
            <a:r>
              <a:rPr lang="en-US" sz="2400" dirty="0"/>
              <a:t>inside function runs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Used for greeting messages, actions, calculations.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86" y="162464"/>
            <a:ext cx="11576648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Functions </a:t>
            </a:r>
            <a:r>
              <a:rPr lang="en-US" altLang="en-US" sz="4400" b="1" dirty="0">
                <a:latin typeface="Arial" panose="020B0604020202020204" pitchFamily="34" charset="0"/>
              </a:rPr>
              <a:t>with Parameters &amp; Return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003988"/>
            <a:ext cx="727635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Functions can: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Receive </a:t>
            </a:r>
            <a:r>
              <a:rPr lang="en-US" altLang="en-US" sz="2400" dirty="0">
                <a:latin typeface="Arial" panose="020B0604020202020204" pitchFamily="34" charset="0"/>
              </a:rPr>
              <a:t>values using </a:t>
            </a:r>
            <a:r>
              <a:rPr lang="en-US" altLang="en-US" sz="2400" dirty="0" smtClean="0">
                <a:latin typeface="Arial" panose="020B0604020202020204" pitchFamily="34" charset="0"/>
              </a:rPr>
              <a:t>parameters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Send </a:t>
            </a:r>
            <a:r>
              <a:rPr lang="en-US" altLang="en-US" sz="2400" dirty="0">
                <a:latin typeface="Arial" panose="020B0604020202020204" pitchFamily="34" charset="0"/>
              </a:rPr>
              <a:t>back result using 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return</a:t>
            </a:r>
            <a:endParaRPr lang="en-US" altLang="en-US" sz="2400" dirty="0" smtClean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Benefits: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Reusable logic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Dynamic output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Cleaner code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Used </a:t>
            </a:r>
            <a:r>
              <a:rPr lang="en-US" altLang="en-US" sz="2400" dirty="0">
                <a:latin typeface="Arial" panose="020B0604020202020204" pitchFamily="34" charset="0"/>
              </a:rPr>
              <a:t>in calculators, forms, and logic handling.</a:t>
            </a:r>
          </a:p>
        </p:txBody>
      </p:sp>
    </p:spTree>
    <p:extLst>
      <p:ext uri="{BB962C8B-B14F-4D97-AF65-F5344CB8AC3E}">
        <p14:creationId xmlns:p14="http://schemas.microsoft.com/office/powerpoint/2010/main" val="16812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28" y="162464"/>
            <a:ext cx="11007306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What </a:t>
            </a:r>
            <a:r>
              <a:rPr lang="en-US" altLang="en-US" sz="4400" b="1" dirty="0">
                <a:latin typeface="Arial" panose="020B0604020202020204" pitchFamily="34" charset="0"/>
              </a:rPr>
              <a:t>are DOM Events?</a:t>
            </a:r>
            <a:endParaRPr lang="en-US" altLang="en-US" sz="4400" b="1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373319"/>
            <a:ext cx="86389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DOM </a:t>
            </a:r>
            <a:r>
              <a:rPr lang="en-US" altLang="en-US" sz="2400" dirty="0">
                <a:latin typeface="Arial" panose="020B0604020202020204" pitchFamily="34" charset="0"/>
              </a:rPr>
              <a:t>Events are actions performed by users on a webpage.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Common </a:t>
            </a:r>
            <a:r>
              <a:rPr lang="en-US" altLang="en-US" sz="2400" dirty="0" smtClean="0">
                <a:latin typeface="Arial" panose="020B0604020202020204" pitchFamily="34" charset="0"/>
              </a:rPr>
              <a:t>events: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rgbClr val="FFFF00"/>
                </a:solidFill>
                <a:latin typeface="Arial Unicode MS" panose="020B0604020202020204" pitchFamily="34" charset="-128"/>
              </a:rPr>
              <a:t>click</a:t>
            </a:r>
            <a:endParaRPr lang="en-US" altLang="en-US" sz="2400" dirty="0">
              <a:solidFill>
                <a:srgbClr val="FFFF00"/>
              </a:solidFill>
              <a:latin typeface="Arial Unicode MS" panose="020B0604020202020204" pitchFamily="34" charset="-128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err="1" smtClean="0">
                <a:solidFill>
                  <a:srgbClr val="FFFF00"/>
                </a:solidFill>
                <a:latin typeface="Arial Unicode MS" panose="020B0604020202020204" pitchFamily="34" charset="-128"/>
              </a:rPr>
              <a:t>mouseover</a:t>
            </a:r>
            <a:endParaRPr lang="en-US" altLang="en-US" sz="2400" dirty="0" smtClean="0">
              <a:solidFill>
                <a:srgbClr val="FFFF00"/>
              </a:solidFill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rgbClr val="FFFF00"/>
                </a:solidFill>
                <a:latin typeface="Arial Unicode MS" panose="020B0604020202020204" pitchFamily="34" charset="-128"/>
              </a:rPr>
              <a:t>input</a:t>
            </a:r>
            <a:endParaRPr lang="en-US" altLang="en-US" sz="2400" dirty="0">
              <a:solidFill>
                <a:srgbClr val="FFFF00"/>
              </a:solidFill>
              <a:latin typeface="Arial Unicode MS" panose="020B0604020202020204" pitchFamily="34" charset="-128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Events allow JavaScript to </a:t>
            </a:r>
            <a:r>
              <a:rPr lang="en-US" altLang="en-US" sz="2400" b="1" dirty="0">
                <a:latin typeface="Arial" panose="020B0604020202020204" pitchFamily="34" charset="0"/>
              </a:rPr>
              <a:t>respond to user actions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84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r>
              <a:rPr lang="en-US" sz="4400" b="1" dirty="0" smtClean="0"/>
              <a:t>			Selecting </a:t>
            </a:r>
            <a:r>
              <a:rPr lang="en-US" sz="4400" b="1" dirty="0"/>
              <a:t>HTML Elements</a:t>
            </a:r>
            <a:endParaRPr lang="en-US" sz="44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96296"/>
            <a:ext cx="9143850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JavaScript </a:t>
            </a:r>
            <a:r>
              <a:rPr lang="en-US" sz="2400" dirty="0"/>
              <a:t>selects HTML elements using their IDs.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Selected elements can </a:t>
            </a:r>
            <a:r>
              <a:rPr lang="en-US" sz="2400" dirty="0" smtClean="0"/>
              <a:t>be: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Arial Unicode MS" panose="020B0604020202020204" pitchFamily="34" charset="-128"/>
              </a:rPr>
              <a:t>&lt;Buttons&gt;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Arial Unicode MS" panose="020B0604020202020204" pitchFamily="34" charset="-128"/>
              </a:rPr>
              <a:t>&lt;Text&gt;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Arial Unicode MS" panose="020B0604020202020204" pitchFamily="34" charset="-128"/>
              </a:rPr>
              <a:t>&lt;Headings&gt;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Arial Unicode MS" panose="020B0604020202020204" pitchFamily="34" charset="-128"/>
              </a:rPr>
              <a:t>&lt;Input&gt; </a:t>
            </a:r>
            <a:r>
              <a:rPr lang="en-US" sz="2400" dirty="0"/>
              <a:t>fields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After selection, JavaScript can change content and style.</a:t>
            </a:r>
          </a:p>
        </p:txBody>
      </p:sp>
    </p:spTree>
    <p:extLst>
      <p:ext uri="{BB962C8B-B14F-4D97-AF65-F5344CB8AC3E}">
        <p14:creationId xmlns:p14="http://schemas.microsoft.com/office/powerpoint/2010/main" val="31544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r>
              <a:rPr lang="en-US" sz="4400" b="1" dirty="0" smtClean="0">
                <a:latin typeface="Arial" panose="020B0604020202020204" pitchFamily="34" charset="0"/>
              </a:rPr>
              <a:t>		Event </a:t>
            </a:r>
            <a:r>
              <a:rPr lang="en-US" sz="4400" b="1" dirty="0">
                <a:latin typeface="Arial" panose="020B0604020202020204" pitchFamily="34" charset="0"/>
              </a:rPr>
              <a:t>Listeners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37701" y="2052722"/>
            <a:ext cx="7747634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Event </a:t>
            </a:r>
            <a:r>
              <a:rPr lang="en-US" sz="2400" dirty="0"/>
              <a:t>Listener listens for an event and runs code.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Example </a:t>
            </a:r>
            <a:r>
              <a:rPr lang="en-US" sz="2400" dirty="0" smtClean="0"/>
              <a:t>actions: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Button </a:t>
            </a:r>
            <a:r>
              <a:rPr lang="en-US" sz="2400" dirty="0"/>
              <a:t>click → change </a:t>
            </a:r>
            <a:r>
              <a:rPr lang="en-US" sz="2400" dirty="0" smtClean="0"/>
              <a:t>text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Mouse </a:t>
            </a:r>
            <a:r>
              <a:rPr lang="en-US" sz="2400" dirty="0"/>
              <a:t>over → change </a:t>
            </a:r>
            <a:r>
              <a:rPr lang="en-US" sz="2400" dirty="0" smtClean="0"/>
              <a:t>color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Typing </a:t>
            </a:r>
            <a:r>
              <a:rPr lang="en-US" sz="2400" dirty="0"/>
              <a:t>→ show live input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Makes websites </a:t>
            </a:r>
            <a:r>
              <a:rPr lang="en-US" sz="2400" b="1" dirty="0"/>
              <a:t>interactive and dynamic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21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rgbClr val="FFFF00"/>
                </a:solidFill>
              </a:rPr>
              <a:t>i</a:t>
            </a:r>
            <a:r>
              <a:rPr lang="en-US" altLang="en-US" b="1" dirty="0" smtClean="0">
                <a:solidFill>
                  <a:srgbClr val="FFFF00"/>
                </a:solidFill>
              </a:rPr>
              <a:t>nput</a:t>
            </a:r>
            <a:r>
              <a:rPr lang="en-US" altLang="en-US" sz="4400" b="1" dirty="0" smtClean="0">
                <a:latin typeface="Arial" panose="020B0604020202020204" pitchFamily="34" charset="0"/>
              </a:rPr>
              <a:t> </a:t>
            </a:r>
            <a:r>
              <a:rPr lang="en-US" altLang="en-US" sz="4400" b="1" dirty="0">
                <a:latin typeface="Arial" panose="020B0604020202020204" pitchFamily="34" charset="0"/>
              </a:rPr>
              <a:t>Event (Live Typing)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37701" y="2373321"/>
            <a:ext cx="72763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input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event runs when user types in input field.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Uses: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Live </a:t>
            </a:r>
            <a:r>
              <a:rPr lang="en-US" altLang="en-US" sz="2400" dirty="0">
                <a:latin typeface="Arial" panose="020B0604020202020204" pitchFamily="34" charset="0"/>
              </a:rPr>
              <a:t>text </a:t>
            </a:r>
            <a:r>
              <a:rPr lang="en-US" altLang="en-US" sz="2400" dirty="0" smtClean="0">
                <a:latin typeface="Arial" panose="020B0604020202020204" pitchFamily="34" charset="0"/>
              </a:rPr>
              <a:t>preview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Form validation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latin typeface="Arial" panose="020B0604020202020204" pitchFamily="34" charset="0"/>
              </a:rPr>
              <a:t>Search </a:t>
            </a:r>
            <a:r>
              <a:rPr lang="en-US" altLang="en-US" sz="2400" dirty="0">
                <a:latin typeface="Arial" panose="020B0604020202020204" pitchFamily="34" charset="0"/>
              </a:rPr>
              <a:t>suggestions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Improves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37473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r>
              <a:rPr lang="en-US" sz="4400" b="1" dirty="0" smtClean="0">
                <a:latin typeface="Arial" panose="020B0604020202020204" pitchFamily="34" charset="0"/>
              </a:rPr>
              <a:t>		Real-Life </a:t>
            </a:r>
            <a:r>
              <a:rPr lang="en-US" sz="4400" b="1" dirty="0">
                <a:latin typeface="Arial" panose="020B0604020202020204" pitchFamily="34" charset="0"/>
              </a:rPr>
              <a:t>Examples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37701" y="2052720"/>
            <a:ext cx="707918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Functions </a:t>
            </a:r>
            <a:r>
              <a:rPr lang="en-US" sz="2400" dirty="0"/>
              <a:t>&amp; Events are used </a:t>
            </a:r>
            <a:r>
              <a:rPr lang="en-US" sz="2400" dirty="0" smtClean="0"/>
              <a:t>in: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Buttons </a:t>
            </a:r>
            <a:r>
              <a:rPr lang="en-US" sz="2400" dirty="0"/>
              <a:t>and </a:t>
            </a:r>
            <a:r>
              <a:rPr lang="en-US" sz="2400" dirty="0" smtClean="0"/>
              <a:t>forms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Login systems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Calculators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Interactive </a:t>
            </a:r>
            <a:r>
              <a:rPr lang="en-US" sz="2400" dirty="0"/>
              <a:t>websites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Almost every modern website uses them.</a:t>
            </a:r>
          </a:p>
        </p:txBody>
      </p:sp>
    </p:spTree>
    <p:extLst>
      <p:ext uri="{BB962C8B-B14F-4D97-AF65-F5344CB8AC3E}">
        <p14:creationId xmlns:p14="http://schemas.microsoft.com/office/powerpoint/2010/main" val="65143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02922" y="2482118"/>
            <a:ext cx="827273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tx2"/>
                </a:solidFill>
              </a:rPr>
              <a:t>Code example Screen shots from next slide</a:t>
            </a:r>
          </a:p>
        </p:txBody>
      </p:sp>
    </p:spTree>
    <p:extLst>
      <p:ext uri="{BB962C8B-B14F-4D97-AF65-F5344CB8AC3E}">
        <p14:creationId xmlns:p14="http://schemas.microsoft.com/office/powerpoint/2010/main" val="83686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function</a:t>
            </a: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Declaration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02" y="1105317"/>
            <a:ext cx="10443573" cy="56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8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Parameters &amp; </a:t>
            </a:r>
            <a:r>
              <a:rPr lang="en-US" sz="4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r</a:t>
            </a:r>
            <a:r>
              <a:rPr lang="en-US" sz="4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eturn</a:t>
            </a:r>
            <a:endParaRPr lang="en-US" sz="4800" b="1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35" y="1105317"/>
            <a:ext cx="10852671" cy="56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6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DOM Events ?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16" y="1534299"/>
            <a:ext cx="10983345" cy="409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5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6377" y="274320"/>
            <a:ext cx="8804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rPr>
              <a:t>Selection by </a:t>
            </a:r>
            <a:r>
              <a:rPr lang="en-US" sz="4400" b="1" dirty="0" err="1">
                <a:solidFill>
                  <a:srgbClr val="FFFF00"/>
                </a:solidFill>
                <a:latin typeface="+mj-lt"/>
                <a:ea typeface="+mj-ea"/>
                <a:cs typeface="+mj-cs"/>
              </a:rPr>
              <a:t>getElementById</a:t>
            </a:r>
            <a:r>
              <a:rPr lang="en-US" sz="4400" b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();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88" y="1429081"/>
            <a:ext cx="11173516" cy="40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7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click</a:t>
            </a: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Event </a:t>
            </a:r>
            <a:r>
              <a:rPr lang="en-US" sz="4800" b="1" dirty="0" err="1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listners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7" y="1490857"/>
            <a:ext cx="10529609" cy="458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8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err="1">
                <a:solidFill>
                  <a:srgbClr val="FFFF00"/>
                </a:solidFill>
                <a:latin typeface="+mj-lt"/>
                <a:ea typeface="+mj-ea"/>
                <a:cs typeface="+mj-cs"/>
              </a:rPr>
              <a:t>m</a:t>
            </a:r>
            <a:r>
              <a:rPr lang="en-US" sz="4800" b="1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ouseover</a:t>
            </a:r>
            <a:r>
              <a:rPr lang="en-US" sz="4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( );</a:t>
            </a:r>
            <a:endParaRPr lang="en-US" sz="4800" b="1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75" y="1648781"/>
            <a:ext cx="10381754" cy="434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4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9538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input</a:t>
            </a: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Events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70" y="1494088"/>
            <a:ext cx="10102460" cy="441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9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721888"/>
            <a:ext cx="101715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/>
              <a:t>Today </a:t>
            </a:r>
            <a:r>
              <a:rPr lang="en-US" sz="2400" b="1" dirty="0"/>
              <a:t>you learned: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Functions &amp; parameters</a:t>
            </a:r>
            <a:br>
              <a:rPr lang="en-US" sz="2400" dirty="0"/>
            </a:br>
            <a:r>
              <a:rPr lang="en-US" sz="2400" dirty="0"/>
              <a:t>• Return values</a:t>
            </a:r>
            <a:br>
              <a:rPr lang="en-US" sz="2400" dirty="0"/>
            </a:br>
            <a:r>
              <a:rPr lang="en-US" sz="2400" dirty="0"/>
              <a:t>• DOM events</a:t>
            </a:r>
            <a:br>
              <a:rPr lang="en-US" sz="2400" dirty="0"/>
            </a:br>
            <a:r>
              <a:rPr lang="en-US" sz="2400" dirty="0"/>
              <a:t>• Event listeners</a:t>
            </a:r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782</TotalTime>
  <Words>445</Words>
  <Application>Microsoft Office PowerPoint</Application>
  <PresentationFormat>Widescreen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 Unicode MS</vt:lpstr>
      <vt:lpstr>Arial</vt:lpstr>
      <vt:lpstr>Century Gothic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What is a Function?</vt:lpstr>
      <vt:lpstr>Function Declaration</vt:lpstr>
      <vt:lpstr>Functions with Parameters &amp; Return</vt:lpstr>
      <vt:lpstr>What are DOM Events?</vt:lpstr>
      <vt:lpstr>   Selecting HTML Elements</vt:lpstr>
      <vt:lpstr>  Event Listeners</vt:lpstr>
      <vt:lpstr> input Event (Live Typing)</vt:lpstr>
      <vt:lpstr>  Real-Life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26</cp:revision>
  <dcterms:created xsi:type="dcterms:W3CDTF">2025-11-16T03:57:59Z</dcterms:created>
  <dcterms:modified xsi:type="dcterms:W3CDTF">2025-12-31T10:52:00Z</dcterms:modified>
</cp:coreProperties>
</file>