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71" r:id="rId3"/>
    <p:sldId id="258" r:id="rId4"/>
    <p:sldId id="259" r:id="rId5"/>
    <p:sldId id="272" r:id="rId6"/>
    <p:sldId id="280" r:id="rId7"/>
    <p:sldId id="273" r:id="rId8"/>
    <p:sldId id="274" r:id="rId9"/>
    <p:sldId id="275" r:id="rId10"/>
    <p:sldId id="276" r:id="rId11"/>
    <p:sldId id="277" r:id="rId12"/>
    <p:sldId id="279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4" autoAdjust="0"/>
    <p:restoredTop sz="94660" autoAdjust="0"/>
  </p:normalViewPr>
  <p:slideViewPr>
    <p:cSldViewPr snapToGrid="0">
      <p:cViewPr varScale="1">
        <p:scale>
          <a:sx n="89" d="100"/>
          <a:sy n="89" d="100"/>
        </p:scale>
        <p:origin x="466" y="77"/>
      </p:cViewPr>
      <p:guideLst/>
    </p:cSldViewPr>
  </p:slideViewPr>
  <p:outlineViewPr>
    <p:cViewPr>
      <p:scale>
        <a:sx n="33" d="100"/>
        <a:sy n="33" d="100"/>
      </p:scale>
      <p:origin x="0" y="-6413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699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dirty="0"/>
              <a:t>11/27/2025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11/27/2025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11/27/2025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11/27/2025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11/27/2025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11/27/2025</a:t>
            </a:fld>
            <a:endParaRPr lang="en-US"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11/27/2025</a:t>
            </a:fld>
            <a:endParaRPr lang="en-US" dirty="0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11/27/2025</a:t>
            </a:fld>
            <a:endParaRPr lang="en-US" dirty="0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11/27/2025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11/27/2025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11/27/2025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>
          <a:xfrm>
            <a:off x="1930400" y="3771174"/>
            <a:ext cx="727964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11/27/2025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11/27/2025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11/27/2025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11/27/2025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11/27/2025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11/27/2025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40000"/>
                  <a:lumOff val="60000"/>
                  <a:alpha val="7000"/>
                </a:schemeClr>
              </a:gs>
              <a:gs pos="69000">
                <a:schemeClr val="bg2">
                  <a:lumMod val="40000"/>
                  <a:lumOff val="60000"/>
                  <a:alpha val="0"/>
                </a:schemeClr>
              </a:gs>
              <a:gs pos="36000">
                <a:schemeClr val="bg2">
                  <a:lumMod val="40000"/>
                  <a:lumOff val="6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9012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4509A250-FF31-4206-8172-F9D3106AACB1}" type="datetimeFigureOut">
              <a:rPr lang="en-US" dirty="0"/>
              <a:t>11/27/2025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8" r:id="rId9"/>
    <p:sldLayoutId id="2147483667" r:id="rId10"/>
    <p:sldLayoutId id="2147483661" r:id="rId11"/>
    <p:sldLayoutId id="2147483664" r:id="rId12"/>
    <p:sldLayoutId id="2147483662" r:id="rId13"/>
    <p:sldLayoutId id="2147483669" r:id="rId14"/>
    <p:sldLayoutId id="2147483670" r:id="rId15"/>
    <p:sldLayoutId id="2147483658" r:id="rId16"/>
    <p:sldLayoutId id="2147483659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2294626"/>
            <a:ext cx="12128739" cy="1775389"/>
          </a:xfrm>
        </p:spPr>
        <p:txBody>
          <a:bodyPr/>
          <a:lstStyle/>
          <a:p>
            <a:pPr algn="ctr"/>
            <a:r>
              <a:rPr lang="ur-PK" sz="9600" dirty="0"/>
              <a:t>بِسْمِ ٱللَّهِ ٱلرَّحْمَٰنِ ٱلرَّحِيمِ</a:t>
            </a:r>
            <a:endParaRPr lang="en-US" sz="9600" b="1" dirty="0"/>
          </a:p>
        </p:txBody>
      </p:sp>
    </p:spTree>
    <p:extLst>
      <p:ext uri="{BB962C8B-B14F-4D97-AF65-F5344CB8AC3E}">
        <p14:creationId xmlns:p14="http://schemas.microsoft.com/office/powerpoint/2010/main" val="3092456740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6000" b="1" dirty="0"/>
              <a:t>Course: Web Designing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368058"/>
          </a:xfrm>
        </p:spPr>
        <p:txBody>
          <a:bodyPr>
            <a:normAutofit lnSpcReduction="10000"/>
          </a:bodyPr>
          <a:lstStyle/>
          <a:p>
            <a:r>
              <a:rPr lang="en-US" b="1" dirty="0"/>
              <a:t>Institute: Corvit Systems Peshawar</a:t>
            </a:r>
          </a:p>
        </p:txBody>
      </p:sp>
      <p:sp>
        <p:nvSpPr>
          <p:cNvPr id="4" name="Subtitle 2"/>
          <p:cNvSpPr txBox="1">
            <a:spLocks/>
          </p:cNvSpPr>
          <p:nvPr/>
        </p:nvSpPr>
        <p:spPr>
          <a:xfrm>
            <a:off x="1160709" y="5145438"/>
            <a:ext cx="8825658" cy="4703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0" i="0" kern="1200" cap="all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8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2pPr>
            <a:lvl3pPr marL="914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3pPr>
            <a:lvl4pPr marL="1371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4pPr>
            <a:lvl5pPr marL="18288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5pPr>
            <a:lvl6pPr marL="22860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6pPr>
            <a:lvl7pPr marL="2743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7pPr>
            <a:lvl8pPr marL="3200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8pPr>
            <a:lvl9pPr marL="3657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9pPr>
          </a:lstStyle>
          <a:p>
            <a:r>
              <a:rPr lang="en-US" b="1" dirty="0"/>
              <a:t>Duration: 3-Month Web Designing &amp; Development Course</a:t>
            </a:r>
          </a:p>
        </p:txBody>
      </p:sp>
      <p:sp>
        <p:nvSpPr>
          <p:cNvPr id="5" name="Subtitle 2"/>
          <p:cNvSpPr txBox="1">
            <a:spLocks/>
          </p:cNvSpPr>
          <p:nvPr/>
        </p:nvSpPr>
        <p:spPr>
          <a:xfrm>
            <a:off x="1166465" y="5530746"/>
            <a:ext cx="8825658" cy="4703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0" i="0" kern="1200" cap="all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8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2pPr>
            <a:lvl3pPr marL="914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3pPr>
            <a:lvl4pPr marL="1371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4pPr>
            <a:lvl5pPr marL="18288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5pPr>
            <a:lvl6pPr marL="22860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6pPr>
            <a:lvl7pPr marL="2743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7pPr>
            <a:lvl8pPr marL="3200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8pPr>
            <a:lvl9pPr marL="3657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9pPr>
          </a:lstStyle>
          <a:p>
            <a:r>
              <a:rPr lang="en-US" b="1" dirty="0" smtClean="0"/>
              <a:t>3</a:t>
            </a:r>
            <a:r>
              <a:rPr lang="en-US" b="1" baseline="30000" dirty="0" smtClean="0"/>
              <a:t>rd</a:t>
            </a:r>
            <a:r>
              <a:rPr lang="en-US" b="1" dirty="0" smtClean="0"/>
              <a:t> class of web designing</a:t>
            </a:r>
            <a:endParaRPr lang="en-US" b="1" dirty="0"/>
          </a:p>
        </p:txBody>
      </p:sp>
      <p:sp>
        <p:nvSpPr>
          <p:cNvPr id="6" name="Subtitle 2"/>
          <p:cNvSpPr txBox="1">
            <a:spLocks/>
          </p:cNvSpPr>
          <p:nvPr/>
        </p:nvSpPr>
        <p:spPr>
          <a:xfrm>
            <a:off x="1154969" y="5864295"/>
            <a:ext cx="8825658" cy="4703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0" i="0" kern="1200" cap="all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8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2pPr>
            <a:lvl3pPr marL="914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3pPr>
            <a:lvl4pPr marL="1371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4pPr>
            <a:lvl5pPr marL="18288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5pPr>
            <a:lvl6pPr marL="22860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6pPr>
            <a:lvl7pPr marL="2743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7pPr>
            <a:lvl8pPr marL="3200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8pPr>
            <a:lvl9pPr marL="3657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9pPr>
          </a:lstStyle>
          <a:p>
            <a:r>
              <a:rPr lang="en-US" b="1" dirty="0"/>
              <a:t>HTML LINKS &amp; IMAGES</a:t>
            </a:r>
          </a:p>
        </p:txBody>
      </p:sp>
    </p:spTree>
    <p:extLst>
      <p:ext uri="{BB962C8B-B14F-4D97-AF65-F5344CB8AC3E}">
        <p14:creationId xmlns:p14="http://schemas.microsoft.com/office/powerpoint/2010/main" val="3517948185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  <p:bldP spid="4" grpId="0"/>
      <p:bldP spid="5" grpId="0"/>
      <p:bldP spid="6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10705"/>
            <a:ext cx="8825659" cy="1036608"/>
          </a:xfrm>
        </p:spPr>
        <p:txBody>
          <a:bodyPr/>
          <a:lstStyle/>
          <a:p>
            <a:r>
              <a:rPr lang="en-US" b="1" dirty="0" smtClean="0"/>
              <a:t>What we will learn today</a:t>
            </a:r>
            <a:endParaRPr lang="en-US" b="1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type="body" sz="half" idx="2"/>
          </p:nvPr>
        </p:nvSpPr>
        <p:spPr bwMode="auto">
          <a:xfrm>
            <a:off x="1154954" y="1501100"/>
            <a:ext cx="5440015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lvl="0" indent="-3429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 the end of this class, you will understand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endParaRPr 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</a:pPr>
            <a:r>
              <a:rPr lang="en-US" altLang="en-US" sz="2000" dirty="0" smtClean="0">
                <a:latin typeface="Arial" panose="020B0604020202020204" pitchFamily="34" charset="0"/>
              </a:rPr>
              <a:t> </a:t>
            </a:r>
            <a:r>
              <a:rPr lang="en-US" altLang="en-US" sz="2000" dirty="0">
                <a:latin typeface="Arial" panose="020B0604020202020204" pitchFamily="34" charset="0"/>
              </a:rPr>
              <a:t>Anchor Tag </a:t>
            </a:r>
            <a:r>
              <a:rPr lang="en-US" altLang="en-US" sz="2000" i="1" dirty="0">
                <a:solidFill>
                  <a:srgbClr val="FFFF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&lt;a&gt;</a:t>
            </a:r>
          </a:p>
          <a:p>
            <a:pPr marL="742950" lvl="1" indent="-28575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</a:pPr>
            <a:r>
              <a:rPr lang="en-US" altLang="en-US" sz="2000" dirty="0" smtClean="0"/>
              <a:t> </a:t>
            </a:r>
            <a:r>
              <a:rPr lang="en-US" altLang="en-US" sz="2000" dirty="0"/>
              <a:t>Internal vs External </a:t>
            </a:r>
            <a:r>
              <a:rPr lang="en-US" altLang="en-US" sz="2000" dirty="0" smtClean="0"/>
              <a:t>Links</a:t>
            </a:r>
          </a:p>
          <a:p>
            <a:pPr marL="742950" lvl="1" indent="-28575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</a:pPr>
            <a:r>
              <a:rPr lang="en-US" altLang="en-US" sz="2000" dirty="0" smtClean="0">
                <a:latin typeface="Arial" panose="020B0604020202020204" pitchFamily="34" charset="0"/>
              </a:rPr>
              <a:t>Opening </a:t>
            </a:r>
            <a:r>
              <a:rPr lang="en-US" altLang="en-US" sz="2000" dirty="0">
                <a:latin typeface="Arial" panose="020B0604020202020204" pitchFamily="34" charset="0"/>
              </a:rPr>
              <a:t>Links in New </a:t>
            </a:r>
            <a:r>
              <a:rPr lang="en-US" altLang="en-US" sz="2000" dirty="0" smtClean="0">
                <a:latin typeface="Arial" panose="020B0604020202020204" pitchFamily="34" charset="0"/>
              </a:rPr>
              <a:t>Tab</a:t>
            </a:r>
          </a:p>
          <a:p>
            <a:pPr marL="742950" lvl="1" indent="-28575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</a:pPr>
            <a:r>
              <a:rPr lang="en-US" altLang="en-US" sz="2000" dirty="0" smtClean="0">
                <a:latin typeface="Arial" panose="020B0604020202020204" pitchFamily="34" charset="0"/>
              </a:rPr>
              <a:t>Image </a:t>
            </a:r>
            <a:r>
              <a:rPr lang="en-US" altLang="en-US" sz="2000" dirty="0">
                <a:latin typeface="Arial" panose="020B0604020202020204" pitchFamily="34" charset="0"/>
              </a:rPr>
              <a:t>Tag </a:t>
            </a:r>
            <a:r>
              <a:rPr lang="en-US" altLang="en-US" sz="2000" i="1" dirty="0">
                <a:solidFill>
                  <a:srgbClr val="FFFF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&lt;</a:t>
            </a:r>
            <a:r>
              <a:rPr lang="en-US" altLang="en-US" sz="2000" i="1" dirty="0" err="1">
                <a:solidFill>
                  <a:srgbClr val="FFFF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img</a:t>
            </a:r>
            <a:r>
              <a:rPr lang="en-US" altLang="en-US" sz="2000" i="1" dirty="0">
                <a:solidFill>
                  <a:srgbClr val="FFFF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&gt;</a:t>
            </a:r>
          </a:p>
          <a:p>
            <a:pPr marL="742950" lvl="1" indent="-28575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</a:pPr>
            <a:r>
              <a:rPr lang="en-US" altLang="en-US" sz="2000" dirty="0" smtClean="0"/>
              <a:t>Image </a:t>
            </a:r>
            <a:r>
              <a:rPr lang="en-US" altLang="en-US" sz="2000" dirty="0"/>
              <a:t>Attributes (</a:t>
            </a:r>
            <a:r>
              <a:rPr lang="en-US" altLang="en-US" sz="2000" i="1" dirty="0" err="1">
                <a:solidFill>
                  <a:srgbClr val="FFFF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src</a:t>
            </a:r>
            <a:r>
              <a:rPr lang="en-US" altLang="en-US" sz="2000" i="1" dirty="0">
                <a:solidFill>
                  <a:srgbClr val="FFFF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alt, width, height</a:t>
            </a:r>
            <a:r>
              <a:rPr lang="en-US" altLang="en-US" sz="2000" dirty="0" smtClean="0"/>
              <a:t>)</a:t>
            </a:r>
          </a:p>
          <a:p>
            <a:pPr marL="742950" lvl="1" indent="-28575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</a:pPr>
            <a:r>
              <a:rPr lang="en-US" altLang="en-US" sz="2000" dirty="0" smtClean="0">
                <a:latin typeface="Arial" panose="020B0604020202020204" pitchFamily="34" charset="0"/>
              </a:rPr>
              <a:t>Image </a:t>
            </a:r>
            <a:r>
              <a:rPr lang="en-US" altLang="en-US" sz="2000" dirty="0">
                <a:latin typeface="Arial" panose="020B0604020202020204" pitchFamily="34" charset="0"/>
              </a:rPr>
              <a:t>Optimization Best Practices </a:t>
            </a: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26132994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62464"/>
            <a:ext cx="8825659" cy="1071113"/>
          </a:xfrm>
        </p:spPr>
        <p:txBody>
          <a:bodyPr/>
          <a:lstStyle/>
          <a:p>
            <a:pPr lvl="0" fontAlgn="base">
              <a:spcAft>
                <a:spcPct val="0"/>
              </a:spcAft>
            </a:pPr>
            <a:r>
              <a:rPr lang="en-US" altLang="en-US" b="1" dirty="0"/>
              <a:t>Anchor Tag </a:t>
            </a:r>
            <a:r>
              <a:rPr lang="en-US" altLang="en-US" i="1" dirty="0">
                <a:solidFill>
                  <a:srgbClr val="FFFF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&lt;a&gt;</a:t>
            </a:r>
          </a:p>
        </p:txBody>
      </p:sp>
      <p:sp>
        <p:nvSpPr>
          <p:cNvPr id="4" name="Rectangle 1"/>
          <p:cNvSpPr>
            <a:spLocks noGrp="1" noChangeArrowheads="1"/>
          </p:cNvSpPr>
          <p:nvPr>
            <p:ph type="body" sz="half" idx="2"/>
          </p:nvPr>
        </p:nvSpPr>
        <p:spPr bwMode="auto">
          <a:xfrm>
            <a:off x="1154955" y="1634661"/>
            <a:ext cx="9984900" cy="378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lvl="0" indent="-3429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</a:pPr>
            <a:r>
              <a:rPr lang="en-US" altLang="en-US" sz="2000" b="1" dirty="0">
                <a:latin typeface="Arial" panose="020B0604020202020204" pitchFamily="34" charset="0"/>
              </a:rPr>
              <a:t>Anchor Tag </a:t>
            </a:r>
            <a:r>
              <a:rPr lang="en-US" altLang="en-US" sz="2000" i="1" dirty="0">
                <a:solidFill>
                  <a:srgbClr val="FFFF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&lt;a&gt;</a:t>
            </a:r>
          </a:p>
          <a:p>
            <a:pPr marL="800100" lvl="1" indent="-3429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000" dirty="0" smtClean="0">
                <a:latin typeface="Arial" panose="020B0604020202020204" pitchFamily="34" charset="0"/>
              </a:rPr>
              <a:t>The </a:t>
            </a:r>
            <a:r>
              <a:rPr lang="en-US" altLang="en-US" sz="2000" dirty="0">
                <a:latin typeface="Arial" panose="020B0604020202020204" pitchFamily="34" charset="0"/>
              </a:rPr>
              <a:t>anchor tag is used to create hyperlinks—clickable text that takes you to another page.</a:t>
            </a:r>
            <a:endParaRPr lang="en-US" altLang="en-US" sz="2000" b="1" dirty="0">
              <a:latin typeface="Arial" panose="020B0604020202020204" pitchFamily="34" charset="0"/>
            </a:endParaRPr>
          </a:p>
          <a:p>
            <a:pPr marL="342900" lvl="0" indent="-3429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</a:pPr>
            <a:r>
              <a:rPr lang="en-US" altLang="en-US" sz="2000" b="1" dirty="0">
                <a:latin typeface="Arial" panose="020B0604020202020204" pitchFamily="34" charset="0"/>
              </a:rPr>
              <a:t>Basic Example</a:t>
            </a:r>
          </a:p>
          <a:p>
            <a:pPr marL="800100" lvl="1" indent="-3429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000" i="1" dirty="0">
                <a:solidFill>
                  <a:srgbClr val="FFFF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&lt;a </a:t>
            </a:r>
            <a:r>
              <a:rPr lang="en-US" altLang="en-US" sz="2000" i="1" dirty="0" err="1">
                <a:solidFill>
                  <a:srgbClr val="FFFF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href</a:t>
            </a:r>
            <a:r>
              <a:rPr lang="en-US" altLang="en-US" sz="2000" i="1" dirty="0">
                <a:solidFill>
                  <a:srgbClr val="FFFF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="https://google.com"&gt;Visit Google&lt;/a&gt; </a:t>
            </a:r>
          </a:p>
          <a:p>
            <a:pPr marL="342900" lvl="0" indent="-3429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</a:pPr>
            <a:r>
              <a:rPr lang="en-US" altLang="en-US" sz="2000" b="1" dirty="0">
                <a:latin typeface="Arial" panose="020B0604020202020204" pitchFamily="34" charset="0"/>
              </a:rPr>
              <a:t>Why it is used</a:t>
            </a:r>
          </a:p>
          <a:p>
            <a:pPr marL="800100" lvl="1" indent="-3429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000" dirty="0" smtClean="0">
                <a:latin typeface="Arial" panose="020B0604020202020204" pitchFamily="34" charset="0"/>
              </a:rPr>
              <a:t>Navigation </a:t>
            </a:r>
            <a:r>
              <a:rPr lang="en-US" altLang="en-US" sz="2000" dirty="0">
                <a:latin typeface="Arial" panose="020B0604020202020204" pitchFamily="34" charset="0"/>
              </a:rPr>
              <a:t>between </a:t>
            </a:r>
            <a:r>
              <a:rPr lang="en-US" altLang="en-US" sz="2000" dirty="0" smtClean="0">
                <a:latin typeface="Arial" panose="020B0604020202020204" pitchFamily="34" charset="0"/>
              </a:rPr>
              <a:t>pages</a:t>
            </a:r>
          </a:p>
          <a:p>
            <a:pPr marL="800100" lvl="1" indent="-3429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000" dirty="0" smtClean="0">
                <a:latin typeface="Arial" panose="020B0604020202020204" pitchFamily="34" charset="0"/>
              </a:rPr>
              <a:t>Linking </a:t>
            </a:r>
            <a:r>
              <a:rPr lang="en-US" altLang="en-US" sz="2000" dirty="0">
                <a:latin typeface="Arial" panose="020B0604020202020204" pitchFamily="34" charset="0"/>
              </a:rPr>
              <a:t>documents or </a:t>
            </a:r>
            <a:r>
              <a:rPr lang="en-US" altLang="en-US" sz="2000" dirty="0" smtClean="0">
                <a:latin typeface="Arial" panose="020B0604020202020204" pitchFamily="34" charset="0"/>
              </a:rPr>
              <a:t>websites</a:t>
            </a:r>
          </a:p>
          <a:p>
            <a:pPr marL="800100" lvl="1" indent="-3429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000" dirty="0" smtClean="0">
                <a:latin typeface="Arial" panose="020B0604020202020204" pitchFamily="34" charset="0"/>
              </a:rPr>
              <a:t>Creating </a:t>
            </a:r>
            <a:r>
              <a:rPr lang="en-US" altLang="en-US" sz="2000" dirty="0">
                <a:latin typeface="Arial" panose="020B0604020202020204" pitchFamily="34" charset="0"/>
              </a:rPr>
              <a:t>menus and buttons</a:t>
            </a:r>
            <a:endParaRPr lang="en-US" altLang="en-US" sz="2000" b="1" dirty="0">
              <a:latin typeface="Arial" panose="020B0604020202020204" pitchFamily="34" charset="0"/>
            </a:endParaRPr>
          </a:p>
          <a:p>
            <a:pPr marL="342900" lvl="0" indent="-3429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</a:pPr>
            <a:r>
              <a:rPr lang="en-US" altLang="en-US" sz="2000" b="1" dirty="0">
                <a:latin typeface="Arial" panose="020B0604020202020204" pitchFamily="34" charset="0"/>
              </a:rPr>
              <a:t>Characteristics:</a:t>
            </a:r>
          </a:p>
          <a:p>
            <a:pPr marL="800100" lvl="1" indent="-3429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000" dirty="0" smtClean="0">
                <a:latin typeface="Arial" panose="020B0604020202020204" pitchFamily="34" charset="0"/>
              </a:rPr>
              <a:t>Must include </a:t>
            </a:r>
            <a:r>
              <a:rPr lang="en-US" altLang="en-US" sz="2000" b="1" dirty="0" err="1" smtClean="0">
                <a:latin typeface="Arial" panose="020B0604020202020204" pitchFamily="34" charset="0"/>
              </a:rPr>
              <a:t>href</a:t>
            </a:r>
            <a:r>
              <a:rPr lang="en-US" altLang="en-US" sz="2000" dirty="0" smtClean="0">
                <a:latin typeface="Arial" panose="020B0604020202020204" pitchFamily="34" charset="0"/>
              </a:rPr>
              <a:t> attribute</a:t>
            </a:r>
            <a:endParaRPr lang="en-US" altLang="en-US" sz="2000" dirty="0">
              <a:latin typeface="Arial" panose="020B0604020202020204" pitchFamily="34" charset="0"/>
            </a:endParaRPr>
          </a:p>
          <a:p>
            <a:pPr marL="800100" lvl="1" indent="-3429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000" dirty="0" smtClean="0">
                <a:latin typeface="Arial" panose="020B0604020202020204" pitchFamily="34" charset="0"/>
              </a:rPr>
              <a:t>Can link </a:t>
            </a:r>
            <a:r>
              <a:rPr lang="en-US" altLang="en-US" sz="2000" dirty="0">
                <a:latin typeface="Arial" panose="020B0604020202020204" pitchFamily="34" charset="0"/>
              </a:rPr>
              <a:t>to pages, images, files, or sections</a:t>
            </a:r>
          </a:p>
        </p:txBody>
      </p:sp>
    </p:spTree>
    <p:extLst>
      <p:ext uri="{BB962C8B-B14F-4D97-AF65-F5344CB8AC3E}">
        <p14:creationId xmlns:p14="http://schemas.microsoft.com/office/powerpoint/2010/main" val="2980408024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62464"/>
            <a:ext cx="8825659" cy="1071113"/>
          </a:xfrm>
        </p:spPr>
        <p:txBody>
          <a:bodyPr/>
          <a:lstStyle/>
          <a:p>
            <a:pPr lvl="0" fontAlgn="base">
              <a:spcAft>
                <a:spcPct val="0"/>
              </a:spcAft>
            </a:pPr>
            <a:r>
              <a:rPr lang="en-US" b="1" dirty="0"/>
              <a:t>Internal vs External Links</a:t>
            </a:r>
            <a:endParaRPr lang="en-US" altLang="en-US" b="1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type="body" sz="half" idx="2"/>
          </p:nvPr>
        </p:nvSpPr>
        <p:spPr bwMode="auto">
          <a:xfrm>
            <a:off x="1154955" y="2250215"/>
            <a:ext cx="9984900" cy="2554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lvl="0" indent="-3429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</a:pPr>
            <a:r>
              <a:rPr lang="en-US" altLang="en-US" sz="2000" b="1" dirty="0">
                <a:latin typeface="Arial" panose="020B0604020202020204" pitchFamily="34" charset="0"/>
              </a:rPr>
              <a:t>Internal Links</a:t>
            </a:r>
          </a:p>
          <a:p>
            <a:pPr marL="800100" lvl="1" indent="-3429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Arial" panose="020B0604020202020204" pitchFamily="34" charset="0"/>
              </a:rPr>
              <a:t>Links that open pages </a:t>
            </a:r>
            <a:r>
              <a:rPr lang="en-US" altLang="en-US" sz="2000" i="1" dirty="0">
                <a:latin typeface="Arial" panose="020B0604020202020204" pitchFamily="34" charset="0"/>
              </a:rPr>
              <a:t>inside</a:t>
            </a:r>
            <a:r>
              <a:rPr lang="en-US" altLang="en-US" sz="2000" dirty="0">
                <a:latin typeface="Arial" panose="020B0604020202020204" pitchFamily="34" charset="0"/>
              </a:rPr>
              <a:t> your own </a:t>
            </a:r>
            <a:r>
              <a:rPr lang="en-US" altLang="en-US" sz="2000" dirty="0" smtClean="0">
                <a:latin typeface="Arial" panose="020B0604020202020204" pitchFamily="34" charset="0"/>
              </a:rPr>
              <a:t>website.</a:t>
            </a:r>
          </a:p>
          <a:p>
            <a:pPr marL="800100" lvl="1" indent="-3429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000" dirty="0" smtClean="0">
                <a:latin typeface="Arial" panose="020B0604020202020204" pitchFamily="34" charset="0"/>
              </a:rPr>
              <a:t>Example:</a:t>
            </a:r>
            <a:endParaRPr lang="en-US" altLang="en-US" sz="2000" dirty="0">
              <a:latin typeface="Arial Unicode MS" panose="020B0604020202020204" pitchFamily="34" charset="-128"/>
            </a:endParaRPr>
          </a:p>
          <a:p>
            <a:pPr marL="1257300" lvl="2" indent="-3429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000" i="1" dirty="0">
                <a:solidFill>
                  <a:srgbClr val="FFFF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&lt;a </a:t>
            </a:r>
            <a:r>
              <a:rPr lang="en-US" altLang="en-US" sz="2000" i="1" dirty="0" err="1">
                <a:solidFill>
                  <a:srgbClr val="FFFF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href</a:t>
            </a:r>
            <a:r>
              <a:rPr lang="en-US" altLang="en-US" sz="2000" i="1" dirty="0">
                <a:solidFill>
                  <a:srgbClr val="FFFF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="about.html"&gt;About Us&lt;/a&gt; </a:t>
            </a:r>
          </a:p>
          <a:p>
            <a:pPr marL="342900" lvl="0" indent="-3429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</a:pPr>
            <a:r>
              <a:rPr lang="en-US" altLang="en-US" sz="2000" dirty="0" smtClean="0">
                <a:latin typeface="Arial" panose="020B0604020202020204" pitchFamily="34" charset="0"/>
              </a:rPr>
              <a:t>Use when linking:</a:t>
            </a:r>
          </a:p>
          <a:p>
            <a:pPr marL="800100" lvl="1" indent="-3429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000" dirty="0" smtClean="0">
                <a:latin typeface="Arial" panose="020B0604020202020204" pitchFamily="34" charset="0"/>
              </a:rPr>
              <a:t>Home → About</a:t>
            </a:r>
          </a:p>
          <a:p>
            <a:pPr marL="800100" lvl="1" indent="-3429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000" dirty="0" smtClean="0">
                <a:latin typeface="Arial" panose="020B0604020202020204" pitchFamily="34" charset="0"/>
              </a:rPr>
              <a:t>About → Contact</a:t>
            </a:r>
          </a:p>
          <a:p>
            <a:pPr marL="800100" lvl="1" indent="-3429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000" dirty="0" smtClean="0">
                <a:latin typeface="Arial" panose="020B0604020202020204" pitchFamily="34" charset="0"/>
              </a:rPr>
              <a:t>Any page inside your project</a:t>
            </a:r>
            <a:endParaRPr lang="en-US" altLang="en-US" sz="20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0100155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62464"/>
            <a:ext cx="8825659" cy="1071113"/>
          </a:xfrm>
        </p:spPr>
        <p:txBody>
          <a:bodyPr/>
          <a:lstStyle/>
          <a:p>
            <a:pPr lvl="0" fontAlgn="base">
              <a:spcAft>
                <a:spcPct val="0"/>
              </a:spcAft>
            </a:pPr>
            <a:r>
              <a:rPr lang="en-US" b="1" dirty="0"/>
              <a:t>Internal vs External Links</a:t>
            </a:r>
            <a:endParaRPr lang="en-US" altLang="en-US" b="1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type="body" sz="half" idx="2"/>
          </p:nvPr>
        </p:nvSpPr>
        <p:spPr bwMode="auto">
          <a:xfrm>
            <a:off x="1154955" y="2250214"/>
            <a:ext cx="9984900" cy="2554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lvl="0" indent="-3429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</a:pPr>
            <a:r>
              <a:rPr lang="en-US" altLang="en-US" sz="2000" b="1" dirty="0">
                <a:latin typeface="Arial" panose="020B0604020202020204" pitchFamily="34" charset="0"/>
              </a:rPr>
              <a:t>External Links</a:t>
            </a:r>
          </a:p>
          <a:p>
            <a:pPr marL="800100" lvl="1" indent="-3429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Arial" panose="020B0604020202020204" pitchFamily="34" charset="0"/>
              </a:rPr>
              <a:t>Links that open another </a:t>
            </a:r>
            <a:r>
              <a:rPr lang="en-US" altLang="en-US" sz="2000" dirty="0" smtClean="0">
                <a:latin typeface="Arial" panose="020B0604020202020204" pitchFamily="34" charset="0"/>
              </a:rPr>
              <a:t>website.</a:t>
            </a:r>
          </a:p>
          <a:p>
            <a:pPr marL="800100" lvl="1" indent="-3429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000" dirty="0" smtClean="0">
                <a:latin typeface="Arial" panose="020B0604020202020204" pitchFamily="34" charset="0"/>
              </a:rPr>
              <a:t>Example</a:t>
            </a:r>
            <a:r>
              <a:rPr lang="en-US" altLang="en-US" sz="2000" dirty="0">
                <a:latin typeface="Arial" panose="020B0604020202020204" pitchFamily="34" charset="0"/>
              </a:rPr>
              <a:t>:</a:t>
            </a:r>
            <a:endParaRPr lang="en-US" altLang="en-US" sz="2000" dirty="0">
              <a:latin typeface="Arial Unicode MS" panose="020B0604020202020204" pitchFamily="34" charset="-128"/>
            </a:endParaRPr>
          </a:p>
          <a:p>
            <a:pPr marL="1257300" lvl="2" indent="-3429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000" i="1" dirty="0">
                <a:solidFill>
                  <a:srgbClr val="FFFF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&lt;a </a:t>
            </a:r>
            <a:r>
              <a:rPr lang="en-US" altLang="en-US" sz="2000" i="1" dirty="0" err="1">
                <a:solidFill>
                  <a:srgbClr val="FFFF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href</a:t>
            </a:r>
            <a:r>
              <a:rPr lang="en-US" altLang="en-US" sz="2000" i="1" dirty="0">
                <a:solidFill>
                  <a:srgbClr val="FFFF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="https://facebook.com"&gt;Facebook&lt;/a&gt; </a:t>
            </a:r>
          </a:p>
          <a:p>
            <a:pPr marL="800100" lvl="1" indent="-3429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Arial" panose="020B0604020202020204" pitchFamily="34" charset="0"/>
              </a:rPr>
              <a:t>Use when </a:t>
            </a:r>
            <a:r>
              <a:rPr lang="en-US" altLang="en-US" sz="2000" dirty="0" smtClean="0">
                <a:latin typeface="Arial" panose="020B0604020202020204" pitchFamily="34" charset="0"/>
              </a:rPr>
              <a:t>linking:</a:t>
            </a:r>
            <a:endParaRPr lang="en-US" altLang="en-US" sz="2000" dirty="0">
              <a:latin typeface="Arial" panose="020B0604020202020204" pitchFamily="34" charset="0"/>
            </a:endParaRPr>
          </a:p>
          <a:p>
            <a:pPr marL="1257300" lvl="2" indent="-3429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000" dirty="0" smtClean="0">
                <a:latin typeface="Arial" panose="020B0604020202020204" pitchFamily="34" charset="0"/>
              </a:rPr>
              <a:t>Social media</a:t>
            </a:r>
            <a:endParaRPr lang="en-US" altLang="en-US" sz="2000" dirty="0">
              <a:latin typeface="Arial" panose="020B0604020202020204" pitchFamily="34" charset="0"/>
            </a:endParaRPr>
          </a:p>
          <a:p>
            <a:pPr marL="1257300" lvl="2" indent="-3429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000" dirty="0" smtClean="0">
                <a:latin typeface="Arial" panose="020B0604020202020204" pitchFamily="34" charset="0"/>
              </a:rPr>
              <a:t>External resources</a:t>
            </a:r>
            <a:endParaRPr lang="en-US" altLang="en-US" sz="2000" dirty="0">
              <a:latin typeface="Arial" panose="020B0604020202020204" pitchFamily="34" charset="0"/>
            </a:endParaRPr>
          </a:p>
          <a:p>
            <a:pPr marL="1257300" lvl="2" indent="-3429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000" dirty="0" smtClean="0">
                <a:latin typeface="Arial" panose="020B0604020202020204" pitchFamily="34" charset="0"/>
              </a:rPr>
              <a:t>References</a:t>
            </a:r>
            <a:endParaRPr lang="en-US" altLang="en-US" sz="20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40797253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62464"/>
            <a:ext cx="8825659" cy="1071113"/>
          </a:xfrm>
        </p:spPr>
        <p:txBody>
          <a:bodyPr/>
          <a:lstStyle/>
          <a:p>
            <a:pPr lvl="0" fontAlgn="base">
              <a:spcAft>
                <a:spcPct val="0"/>
              </a:spcAft>
            </a:pPr>
            <a:r>
              <a:rPr lang="en-US" altLang="en-US" b="1" dirty="0"/>
              <a:t>Opening Links in New Tab</a:t>
            </a:r>
          </a:p>
        </p:txBody>
      </p:sp>
      <p:sp>
        <p:nvSpPr>
          <p:cNvPr id="4" name="Rectangle 1"/>
          <p:cNvSpPr>
            <a:spLocks noGrp="1" noChangeArrowheads="1"/>
          </p:cNvSpPr>
          <p:nvPr>
            <p:ph type="body" sz="half" idx="2"/>
          </p:nvPr>
        </p:nvSpPr>
        <p:spPr bwMode="auto">
          <a:xfrm>
            <a:off x="1154955" y="2404103"/>
            <a:ext cx="9984900" cy="22467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lvl="0" indent="-3429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</a:pPr>
            <a:r>
              <a:rPr lang="en-US" altLang="en-US" sz="2000" b="1" dirty="0">
                <a:latin typeface="Arial" panose="020B0604020202020204" pitchFamily="34" charset="0"/>
              </a:rPr>
              <a:t>Opening Links in New Tab</a:t>
            </a:r>
          </a:p>
          <a:p>
            <a:pPr marL="800100" lvl="1" indent="-3429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Arial" panose="020B0604020202020204" pitchFamily="34" charset="0"/>
              </a:rPr>
              <a:t>To open a link in a new browser tab, use:</a:t>
            </a:r>
            <a:endParaRPr lang="en-US" altLang="en-US" sz="2000" dirty="0">
              <a:latin typeface="Arial Unicode MS" panose="020B0604020202020204" pitchFamily="34" charset="-128"/>
            </a:endParaRPr>
          </a:p>
          <a:p>
            <a:pPr marL="800100" lvl="1" indent="-3429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000" i="1" dirty="0">
                <a:solidFill>
                  <a:srgbClr val="FFFF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&lt;a </a:t>
            </a:r>
            <a:r>
              <a:rPr lang="en-US" altLang="en-US" sz="2000" i="1" dirty="0" err="1">
                <a:solidFill>
                  <a:srgbClr val="FFFF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href</a:t>
            </a:r>
            <a:r>
              <a:rPr lang="en-US" altLang="en-US" sz="2000" i="1" dirty="0">
                <a:solidFill>
                  <a:srgbClr val="FFFF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="profile.html" target="_blank"&gt;Open in new tab&lt;/a&gt; </a:t>
            </a:r>
          </a:p>
          <a:p>
            <a:pPr marL="342900" lvl="0" indent="-3429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</a:pPr>
            <a:r>
              <a:rPr lang="en-US" altLang="en-US" sz="2000" b="1" dirty="0" smtClean="0"/>
              <a:t>Why </a:t>
            </a:r>
            <a:r>
              <a:rPr lang="en-US" altLang="en-US" sz="2000" b="1" dirty="0"/>
              <a:t>use </a:t>
            </a:r>
            <a:r>
              <a:rPr lang="en-US" altLang="en-US" sz="2000" i="1" dirty="0">
                <a:solidFill>
                  <a:srgbClr val="FFFF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_blank</a:t>
            </a:r>
            <a:r>
              <a:rPr lang="en-US" altLang="en-US" sz="2000" b="1" dirty="0"/>
              <a:t>?</a:t>
            </a:r>
            <a:endParaRPr lang="en-US" altLang="en-US" sz="2000" b="1" dirty="0">
              <a:latin typeface="Arial" panose="020B0604020202020204" pitchFamily="34" charset="0"/>
            </a:endParaRPr>
          </a:p>
          <a:p>
            <a:pPr marL="800100" lvl="1" indent="-3429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000" dirty="0" smtClean="0">
                <a:latin typeface="Arial" panose="020B0604020202020204" pitchFamily="34" charset="0"/>
              </a:rPr>
              <a:t>Prevents losing the current page</a:t>
            </a:r>
            <a:endParaRPr lang="en-US" altLang="en-US" sz="2000" dirty="0">
              <a:latin typeface="Arial" panose="020B0604020202020204" pitchFamily="34" charset="0"/>
            </a:endParaRPr>
          </a:p>
          <a:p>
            <a:pPr marL="800100" lvl="1" indent="-3429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000" dirty="0" smtClean="0">
                <a:latin typeface="Arial" panose="020B0604020202020204" pitchFamily="34" charset="0"/>
              </a:rPr>
              <a:t>Good for external websites</a:t>
            </a:r>
            <a:endParaRPr lang="en-US" altLang="en-US" sz="2000" dirty="0">
              <a:latin typeface="Arial" panose="020B0604020202020204" pitchFamily="34" charset="0"/>
            </a:endParaRPr>
          </a:p>
          <a:p>
            <a:pPr marL="800100" lvl="1" indent="-3429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000" dirty="0" smtClean="0">
                <a:latin typeface="Arial" panose="020B0604020202020204" pitchFamily="34" charset="0"/>
              </a:rPr>
              <a:t>Improves user </a:t>
            </a:r>
            <a:r>
              <a:rPr lang="en-US" altLang="en-US" sz="2000" dirty="0">
                <a:latin typeface="Arial" panose="020B0604020202020204" pitchFamily="34" charset="0"/>
              </a:rPr>
              <a:t>experience</a:t>
            </a:r>
          </a:p>
        </p:txBody>
      </p:sp>
    </p:spTree>
    <p:extLst>
      <p:ext uri="{BB962C8B-B14F-4D97-AF65-F5344CB8AC3E}">
        <p14:creationId xmlns:p14="http://schemas.microsoft.com/office/powerpoint/2010/main" val="2184128587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62464"/>
            <a:ext cx="8825659" cy="1071113"/>
          </a:xfrm>
        </p:spPr>
        <p:txBody>
          <a:bodyPr/>
          <a:lstStyle/>
          <a:p>
            <a:pPr lvl="0" fontAlgn="base">
              <a:spcAft>
                <a:spcPct val="0"/>
              </a:spcAft>
            </a:pPr>
            <a:r>
              <a:rPr lang="en-US" altLang="en-US" b="1" dirty="0"/>
              <a:t>Image Tag </a:t>
            </a:r>
            <a:r>
              <a:rPr lang="en-US" altLang="en-US" i="1" dirty="0">
                <a:solidFill>
                  <a:srgbClr val="FFFF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&lt;</a:t>
            </a:r>
            <a:r>
              <a:rPr lang="en-US" altLang="en-US" i="1" dirty="0" err="1">
                <a:solidFill>
                  <a:srgbClr val="FFFF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img</a:t>
            </a:r>
            <a:r>
              <a:rPr lang="en-US" altLang="en-US" i="1" dirty="0">
                <a:solidFill>
                  <a:srgbClr val="FFFF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&gt; </a:t>
            </a:r>
          </a:p>
        </p:txBody>
      </p:sp>
      <p:sp>
        <p:nvSpPr>
          <p:cNvPr id="4" name="Rectangle 1"/>
          <p:cNvSpPr>
            <a:spLocks noGrp="1" noChangeArrowheads="1"/>
          </p:cNvSpPr>
          <p:nvPr>
            <p:ph type="body" sz="half" idx="2"/>
          </p:nvPr>
        </p:nvSpPr>
        <p:spPr bwMode="auto">
          <a:xfrm>
            <a:off x="1154955" y="2404104"/>
            <a:ext cx="9984900" cy="22467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lvl="0" indent="-3429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</a:pPr>
            <a:r>
              <a:rPr lang="en-US" altLang="en-US" sz="2000" dirty="0">
                <a:latin typeface="Arial" panose="020B0604020202020204" pitchFamily="34" charset="0"/>
              </a:rPr>
              <a:t>The </a:t>
            </a:r>
            <a:r>
              <a:rPr lang="en-US" altLang="en-US" sz="2000" i="1" dirty="0">
                <a:solidFill>
                  <a:srgbClr val="FFFF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&lt;</a:t>
            </a:r>
            <a:r>
              <a:rPr lang="en-US" altLang="en-US" sz="2000" i="1" dirty="0" err="1">
                <a:solidFill>
                  <a:srgbClr val="FFFF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img</a:t>
            </a:r>
            <a:r>
              <a:rPr lang="en-US" altLang="en-US" sz="2000" i="1" dirty="0">
                <a:solidFill>
                  <a:srgbClr val="FFFF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&gt; </a:t>
            </a:r>
            <a:r>
              <a:rPr lang="en-US" altLang="en-US" sz="2000" dirty="0"/>
              <a:t>tag displays images on a webpage.</a:t>
            </a:r>
            <a:endParaRPr lang="en-US" altLang="en-US" sz="2000" b="1" dirty="0">
              <a:latin typeface="Arial" panose="020B0604020202020204" pitchFamily="34" charset="0"/>
            </a:endParaRPr>
          </a:p>
          <a:p>
            <a:pPr marL="342900" lvl="0" indent="-3429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</a:pPr>
            <a:r>
              <a:rPr lang="en-US" altLang="en-US" sz="2000" b="1" dirty="0">
                <a:latin typeface="Arial" panose="020B0604020202020204" pitchFamily="34" charset="0"/>
              </a:rPr>
              <a:t>Basic Example</a:t>
            </a:r>
          </a:p>
          <a:p>
            <a:pPr marL="800100" lvl="1" indent="-3429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000" i="1" dirty="0">
                <a:solidFill>
                  <a:srgbClr val="FFFF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&lt;</a:t>
            </a:r>
            <a:r>
              <a:rPr lang="en-US" altLang="en-US" sz="2000" i="1" dirty="0" err="1">
                <a:solidFill>
                  <a:srgbClr val="FFFF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img</a:t>
            </a:r>
            <a:r>
              <a:rPr lang="en-US" altLang="en-US" sz="2000" i="1" dirty="0">
                <a:solidFill>
                  <a:srgbClr val="FFFF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sz="2000" i="1" dirty="0" err="1">
                <a:solidFill>
                  <a:srgbClr val="FFFF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src</a:t>
            </a:r>
            <a:r>
              <a:rPr lang="en-US" altLang="en-US" sz="2000" i="1" dirty="0">
                <a:solidFill>
                  <a:srgbClr val="FFFF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="images/photo.jpg" alt="My Photo"&gt; </a:t>
            </a:r>
          </a:p>
          <a:p>
            <a:pPr marL="342900" lvl="0" indent="-3429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</a:pPr>
            <a:r>
              <a:rPr lang="en-US" altLang="en-US" sz="2000" b="1" dirty="0"/>
              <a:t>Characteristics:</a:t>
            </a:r>
            <a:endParaRPr lang="en-US" altLang="en-US" sz="2000" b="1" dirty="0">
              <a:latin typeface="Arial" panose="020B0604020202020204" pitchFamily="34" charset="0"/>
            </a:endParaRPr>
          </a:p>
          <a:p>
            <a:pPr marL="800100" lvl="1" indent="-3429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000" dirty="0" smtClean="0">
                <a:latin typeface="Arial" panose="020B0604020202020204" pitchFamily="34" charset="0"/>
              </a:rPr>
              <a:t>Self-closing tag</a:t>
            </a:r>
            <a:endParaRPr lang="en-US" altLang="en-US" sz="2000" dirty="0">
              <a:latin typeface="Arial" panose="020B0604020202020204" pitchFamily="34" charset="0"/>
            </a:endParaRPr>
          </a:p>
          <a:p>
            <a:pPr marL="800100" lvl="1" indent="-3429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000" dirty="0" smtClean="0">
                <a:latin typeface="Arial" panose="020B0604020202020204" pitchFamily="34" charset="0"/>
              </a:rPr>
              <a:t>Needs </a:t>
            </a:r>
            <a:r>
              <a:rPr lang="en-US" altLang="en-US" sz="2000" dirty="0">
                <a:latin typeface="Arial" panose="020B0604020202020204" pitchFamily="34" charset="0"/>
              </a:rPr>
              <a:t>at least </a:t>
            </a:r>
            <a:r>
              <a:rPr lang="en-US" altLang="en-US" sz="2000" i="1" dirty="0" err="1">
                <a:solidFill>
                  <a:srgbClr val="FFFF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src</a:t>
            </a:r>
            <a:r>
              <a:rPr lang="en-US" altLang="en-US" sz="2000" dirty="0">
                <a:latin typeface="Arial" panose="020B0604020202020204" pitchFamily="34" charset="0"/>
              </a:rPr>
              <a:t> </a:t>
            </a:r>
            <a:endParaRPr lang="en-US" altLang="en-US" sz="2000" dirty="0" smtClean="0">
              <a:latin typeface="Arial" panose="020B0604020202020204" pitchFamily="34" charset="0"/>
            </a:endParaRPr>
          </a:p>
          <a:p>
            <a:pPr marL="800100" lvl="1" indent="-3429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000" dirty="0" smtClean="0">
                <a:latin typeface="Arial" panose="020B0604020202020204" pitchFamily="34" charset="0"/>
              </a:rPr>
              <a:t>Used </a:t>
            </a:r>
            <a:r>
              <a:rPr lang="en-US" altLang="en-US" sz="2000" dirty="0">
                <a:latin typeface="Arial" panose="020B0604020202020204" pitchFamily="34" charset="0"/>
              </a:rPr>
              <a:t>for logos, banners, photos, icons</a:t>
            </a:r>
          </a:p>
        </p:txBody>
      </p:sp>
    </p:spTree>
    <p:extLst>
      <p:ext uri="{BB962C8B-B14F-4D97-AF65-F5344CB8AC3E}">
        <p14:creationId xmlns:p14="http://schemas.microsoft.com/office/powerpoint/2010/main" val="2606859219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62464"/>
            <a:ext cx="8825659" cy="1071113"/>
          </a:xfrm>
        </p:spPr>
        <p:txBody>
          <a:bodyPr/>
          <a:lstStyle/>
          <a:p>
            <a:pPr lvl="0" fontAlgn="base">
              <a:spcAft>
                <a:spcPct val="0"/>
              </a:spcAft>
            </a:pPr>
            <a:r>
              <a:rPr lang="en-US" b="1" dirty="0"/>
              <a:t>Image Attributes</a:t>
            </a:r>
            <a:endParaRPr lang="en-US" altLang="en-US" b="1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type="body" sz="half" idx="2"/>
          </p:nvPr>
        </p:nvSpPr>
        <p:spPr bwMode="auto">
          <a:xfrm>
            <a:off x="1154955" y="2096329"/>
            <a:ext cx="9984900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lvl="0" indent="-4572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arenR"/>
            </a:pPr>
            <a:r>
              <a:rPr lang="en-US" altLang="en-US" sz="2000" b="1" dirty="0" err="1" smtClean="0">
                <a:latin typeface="Arial" panose="020B0604020202020204" pitchFamily="34" charset="0"/>
              </a:rPr>
              <a:t>src</a:t>
            </a:r>
            <a:endParaRPr lang="en-US" altLang="en-US" sz="2000" b="1" dirty="0">
              <a:latin typeface="Arial" panose="020B0604020202020204" pitchFamily="34" charset="0"/>
            </a:endParaRPr>
          </a:p>
          <a:p>
            <a:pPr marL="914400" lvl="1" indent="-4572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Arial" panose="020B0604020202020204" pitchFamily="34" charset="0"/>
              </a:rPr>
              <a:t>Image location path</a:t>
            </a:r>
            <a:endParaRPr lang="en-US" altLang="en-US" sz="2000" dirty="0">
              <a:latin typeface="Arial Unicode MS" panose="020B0604020202020204" pitchFamily="34" charset="-128"/>
            </a:endParaRPr>
          </a:p>
          <a:p>
            <a:pPr marL="914400" lvl="1" indent="-4572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000" i="1" dirty="0">
                <a:solidFill>
                  <a:srgbClr val="FFFF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&lt;</a:t>
            </a:r>
            <a:r>
              <a:rPr lang="en-US" altLang="en-US" sz="2000" i="1" dirty="0" err="1">
                <a:solidFill>
                  <a:srgbClr val="FFFF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img</a:t>
            </a:r>
            <a:r>
              <a:rPr lang="en-US" altLang="en-US" sz="2000" i="1" dirty="0">
                <a:solidFill>
                  <a:srgbClr val="FFFF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sz="2000" i="1" dirty="0" err="1">
                <a:solidFill>
                  <a:srgbClr val="FFFF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src</a:t>
            </a:r>
            <a:r>
              <a:rPr lang="en-US" altLang="en-US" sz="2000" i="1" dirty="0">
                <a:solidFill>
                  <a:srgbClr val="FFFF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="nature.jpg"&gt; </a:t>
            </a:r>
          </a:p>
          <a:p>
            <a:pPr marL="457200" lvl="0" indent="-4572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arenR"/>
            </a:pPr>
            <a:r>
              <a:rPr lang="en-US" altLang="en-US" sz="2000" b="1" dirty="0" smtClean="0">
                <a:latin typeface="Arial" panose="020B0604020202020204" pitchFamily="34" charset="0"/>
              </a:rPr>
              <a:t>alt</a:t>
            </a:r>
            <a:endParaRPr lang="en-US" altLang="en-US" sz="2000" b="1" dirty="0">
              <a:latin typeface="Arial" panose="020B0604020202020204" pitchFamily="34" charset="0"/>
            </a:endParaRPr>
          </a:p>
          <a:p>
            <a:pPr marL="914400" lvl="1" indent="-4572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Arial" panose="020B0604020202020204" pitchFamily="34" charset="0"/>
              </a:rPr>
              <a:t>Text shown if image fails to load</a:t>
            </a:r>
            <a:endParaRPr lang="en-US" altLang="en-US" sz="2000" dirty="0">
              <a:latin typeface="Arial Unicode MS" panose="020B0604020202020204" pitchFamily="34" charset="-128"/>
            </a:endParaRPr>
          </a:p>
          <a:p>
            <a:pPr marL="914400" lvl="1" indent="-4572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000" i="1" dirty="0">
                <a:solidFill>
                  <a:srgbClr val="FFFF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&lt;</a:t>
            </a:r>
            <a:r>
              <a:rPr lang="en-US" altLang="en-US" sz="2000" i="1" dirty="0" err="1">
                <a:solidFill>
                  <a:srgbClr val="FFFF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img</a:t>
            </a:r>
            <a:r>
              <a:rPr lang="en-US" altLang="en-US" sz="2000" i="1" dirty="0">
                <a:solidFill>
                  <a:srgbClr val="FFFF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sz="2000" i="1" dirty="0" err="1">
                <a:solidFill>
                  <a:srgbClr val="FFFF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src</a:t>
            </a:r>
            <a:r>
              <a:rPr lang="en-US" altLang="en-US" sz="2000" i="1" dirty="0">
                <a:solidFill>
                  <a:srgbClr val="FFFF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="logo.png" alt="Website Logo"&gt; </a:t>
            </a:r>
          </a:p>
          <a:p>
            <a:pPr marL="457200" lvl="0" indent="-4572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arenR"/>
            </a:pPr>
            <a:r>
              <a:rPr lang="en-US" altLang="en-US" sz="2000" b="1" dirty="0" smtClean="0">
                <a:latin typeface="Arial" panose="020B0604020202020204" pitchFamily="34" charset="0"/>
              </a:rPr>
              <a:t>width </a:t>
            </a:r>
            <a:r>
              <a:rPr lang="en-US" altLang="en-US" sz="2000" b="1" dirty="0">
                <a:latin typeface="Arial" panose="020B0604020202020204" pitchFamily="34" charset="0"/>
              </a:rPr>
              <a:t>/ height</a:t>
            </a:r>
          </a:p>
          <a:p>
            <a:pPr marL="914400" lvl="1" indent="-4572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000" dirty="0" smtClean="0">
                <a:latin typeface="Arial" panose="020B0604020202020204" pitchFamily="34" charset="0"/>
              </a:rPr>
              <a:t>Controls </a:t>
            </a:r>
            <a:r>
              <a:rPr lang="en-US" altLang="en-US" sz="2000" dirty="0">
                <a:latin typeface="Arial" panose="020B0604020202020204" pitchFamily="34" charset="0"/>
              </a:rPr>
              <a:t>image size</a:t>
            </a:r>
            <a:endParaRPr lang="en-US" altLang="en-US" sz="2000" dirty="0">
              <a:latin typeface="Arial Unicode MS" panose="020B0604020202020204" pitchFamily="34" charset="-128"/>
            </a:endParaRPr>
          </a:p>
          <a:p>
            <a:pPr marL="914400" lvl="1" indent="-4572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000" i="1" dirty="0">
                <a:solidFill>
                  <a:srgbClr val="FFFF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&lt;</a:t>
            </a:r>
            <a:r>
              <a:rPr lang="en-US" altLang="en-US" sz="2000" i="1" dirty="0" err="1">
                <a:solidFill>
                  <a:srgbClr val="FFFF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img</a:t>
            </a:r>
            <a:r>
              <a:rPr lang="en-US" altLang="en-US" sz="2000" i="1" dirty="0">
                <a:solidFill>
                  <a:srgbClr val="FFFF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sz="2000" i="1" dirty="0" err="1">
                <a:solidFill>
                  <a:srgbClr val="FFFF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src</a:t>
            </a:r>
            <a:r>
              <a:rPr lang="en-US" altLang="en-US" sz="2000" i="1" dirty="0">
                <a:solidFill>
                  <a:srgbClr val="FFFF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="car.jpg" width="300" height="200"&gt;</a:t>
            </a:r>
          </a:p>
        </p:txBody>
      </p:sp>
    </p:spTree>
    <p:extLst>
      <p:ext uri="{BB962C8B-B14F-4D97-AF65-F5344CB8AC3E}">
        <p14:creationId xmlns:p14="http://schemas.microsoft.com/office/powerpoint/2010/main" val="3505106911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62464"/>
            <a:ext cx="8825659" cy="1071113"/>
          </a:xfrm>
        </p:spPr>
        <p:txBody>
          <a:bodyPr/>
          <a:lstStyle/>
          <a:p>
            <a:pPr lvl="0" fontAlgn="base">
              <a:spcAft>
                <a:spcPct val="0"/>
              </a:spcAft>
            </a:pPr>
            <a:r>
              <a:rPr lang="en-US" sz="4000" b="1" dirty="0"/>
              <a:t>Image Optimization Best Practices</a:t>
            </a:r>
            <a:endParaRPr lang="en-US" altLang="en-US" sz="4000" b="1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type="body" sz="half" idx="2"/>
          </p:nvPr>
        </p:nvSpPr>
        <p:spPr bwMode="auto">
          <a:xfrm>
            <a:off x="1154955" y="2250218"/>
            <a:ext cx="9984900" cy="2554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lvl="0" indent="-3429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</a:pPr>
            <a:r>
              <a:rPr lang="en-US" altLang="en-US" sz="2000" dirty="0">
                <a:latin typeface="Arial" panose="020B0604020202020204" pitchFamily="34" charset="0"/>
              </a:rPr>
              <a:t>Use compressed image </a:t>
            </a:r>
            <a:r>
              <a:rPr lang="en-US" altLang="en-US" sz="2000" dirty="0" smtClean="0">
                <a:latin typeface="Arial" panose="020B0604020202020204" pitchFamily="34" charset="0"/>
              </a:rPr>
              <a:t>formats</a:t>
            </a:r>
            <a:endParaRPr lang="en-US" altLang="en-US" sz="2000" dirty="0">
              <a:latin typeface="Arial" panose="020B0604020202020204" pitchFamily="34" charset="0"/>
            </a:endParaRPr>
          </a:p>
          <a:p>
            <a:pPr marL="342900" lvl="0" indent="-3429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</a:pPr>
            <a:r>
              <a:rPr lang="en-US" altLang="en-US" sz="2000" dirty="0" smtClean="0">
                <a:latin typeface="Arial" panose="020B0604020202020204" pitchFamily="34" charset="0"/>
              </a:rPr>
              <a:t>Use </a:t>
            </a:r>
            <a:r>
              <a:rPr lang="en-US" altLang="en-US" sz="2000" b="1" dirty="0">
                <a:latin typeface="Arial" panose="020B0604020202020204" pitchFamily="34" charset="0"/>
              </a:rPr>
              <a:t>JPG</a:t>
            </a:r>
            <a:r>
              <a:rPr lang="en-US" altLang="en-US" sz="2000" dirty="0">
                <a:latin typeface="Arial" panose="020B0604020202020204" pitchFamily="34" charset="0"/>
              </a:rPr>
              <a:t> for </a:t>
            </a:r>
            <a:r>
              <a:rPr lang="en-US" altLang="en-US" sz="2000" dirty="0" smtClean="0">
                <a:latin typeface="Arial" panose="020B0604020202020204" pitchFamily="34" charset="0"/>
              </a:rPr>
              <a:t>photos</a:t>
            </a:r>
            <a:endParaRPr lang="en-US" altLang="en-US" sz="2000" dirty="0">
              <a:latin typeface="Arial" panose="020B0604020202020204" pitchFamily="34" charset="0"/>
            </a:endParaRPr>
          </a:p>
          <a:p>
            <a:pPr marL="342900" lvl="0" indent="-3429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</a:pPr>
            <a:r>
              <a:rPr lang="en-US" altLang="en-US" sz="2000" dirty="0" smtClean="0">
                <a:latin typeface="Arial" panose="020B0604020202020204" pitchFamily="34" charset="0"/>
              </a:rPr>
              <a:t>Use </a:t>
            </a:r>
            <a:r>
              <a:rPr lang="en-US" altLang="en-US" sz="2000" b="1" dirty="0">
                <a:latin typeface="Arial" panose="020B0604020202020204" pitchFamily="34" charset="0"/>
              </a:rPr>
              <a:t>PNG</a:t>
            </a:r>
            <a:r>
              <a:rPr lang="en-US" altLang="en-US" sz="2000" dirty="0">
                <a:latin typeface="Arial" panose="020B0604020202020204" pitchFamily="34" charset="0"/>
              </a:rPr>
              <a:t> for logos or images needing </a:t>
            </a:r>
            <a:r>
              <a:rPr lang="en-US" altLang="en-US" sz="2000" dirty="0" smtClean="0">
                <a:latin typeface="Arial" panose="020B0604020202020204" pitchFamily="34" charset="0"/>
              </a:rPr>
              <a:t>transparency</a:t>
            </a:r>
            <a:endParaRPr lang="en-US" altLang="en-US" sz="2000" dirty="0">
              <a:latin typeface="Arial" panose="020B0604020202020204" pitchFamily="34" charset="0"/>
            </a:endParaRPr>
          </a:p>
          <a:p>
            <a:pPr marL="342900" lvl="0" indent="-3429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</a:pPr>
            <a:r>
              <a:rPr lang="en-US" altLang="en-US" sz="2000" dirty="0" smtClean="0">
                <a:latin typeface="Arial" panose="020B0604020202020204" pitchFamily="34" charset="0"/>
              </a:rPr>
              <a:t>Use </a:t>
            </a:r>
            <a:r>
              <a:rPr lang="en-US" altLang="en-US" sz="2000" dirty="0">
                <a:latin typeface="Arial" panose="020B0604020202020204" pitchFamily="34" charset="0"/>
              </a:rPr>
              <a:t>proper dimensions (don’t upload 5MB images</a:t>
            </a:r>
            <a:r>
              <a:rPr lang="en-US" altLang="en-US" sz="2000" dirty="0" smtClean="0">
                <a:latin typeface="Arial" panose="020B0604020202020204" pitchFamily="34" charset="0"/>
              </a:rPr>
              <a:t>!)</a:t>
            </a:r>
            <a:endParaRPr lang="en-US" altLang="en-US" sz="2000" dirty="0">
              <a:latin typeface="Arial" panose="020B0604020202020204" pitchFamily="34" charset="0"/>
            </a:endParaRPr>
          </a:p>
          <a:p>
            <a:pPr marL="342900" lvl="0" indent="-3429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</a:pPr>
            <a:r>
              <a:rPr lang="en-US" altLang="en-US" sz="2000" dirty="0" smtClean="0">
                <a:latin typeface="Arial" panose="020B0604020202020204" pitchFamily="34" charset="0"/>
              </a:rPr>
              <a:t>Keep </a:t>
            </a:r>
            <a:r>
              <a:rPr lang="en-US" altLang="en-US" sz="2000" dirty="0">
                <a:latin typeface="Arial" panose="020B0604020202020204" pitchFamily="34" charset="0"/>
              </a:rPr>
              <a:t>file names short and </a:t>
            </a:r>
            <a:r>
              <a:rPr lang="en-US" altLang="en-US" sz="2000" dirty="0" smtClean="0">
                <a:latin typeface="Arial" panose="020B0604020202020204" pitchFamily="34" charset="0"/>
              </a:rPr>
              <a:t>meaningful</a:t>
            </a:r>
            <a:endParaRPr lang="en-US" altLang="en-US" sz="2000" dirty="0">
              <a:latin typeface="Arial" panose="020B0604020202020204" pitchFamily="34" charset="0"/>
            </a:endParaRPr>
          </a:p>
          <a:p>
            <a:pPr marL="342900" lvl="0" indent="-3429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</a:pPr>
            <a:r>
              <a:rPr lang="en-US" altLang="en-US" sz="2000" dirty="0" smtClean="0">
                <a:latin typeface="Arial" panose="020B0604020202020204" pitchFamily="34" charset="0"/>
              </a:rPr>
              <a:t>Example:</a:t>
            </a:r>
          </a:p>
          <a:p>
            <a:pPr marL="742950" lvl="1" indent="-28575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US" altLang="en-US" sz="2000" dirty="0" smtClean="0">
                <a:solidFill>
                  <a:srgbClr val="00B050"/>
                </a:solidFill>
                <a:latin typeface="Arial" panose="020B0604020202020204" pitchFamily="34" charset="0"/>
              </a:rPr>
              <a:t>✔</a:t>
            </a:r>
            <a:r>
              <a:rPr lang="en-US" altLang="en-US" sz="2000" dirty="0" smtClean="0">
                <a:latin typeface="Arial" panose="020B0604020202020204" pitchFamily="34" charset="0"/>
              </a:rPr>
              <a:t> </a:t>
            </a:r>
            <a:r>
              <a:rPr lang="en-US" altLang="en-US" sz="2000" dirty="0" smtClean="0">
                <a:latin typeface="Arial Unicode MS" panose="020B0604020202020204" pitchFamily="34" charset="-128"/>
              </a:rPr>
              <a:t>hero-banner.jpg</a:t>
            </a:r>
            <a:endParaRPr lang="en-US" altLang="en-US" sz="2000" dirty="0"/>
          </a:p>
          <a:p>
            <a:pPr marL="742950" lvl="1" indent="-28575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US" altLang="en-US" sz="2000" dirty="0" smtClean="0">
                <a:solidFill>
                  <a:srgbClr val="FF0000"/>
                </a:solidFill>
              </a:rPr>
              <a:t>❌</a:t>
            </a:r>
            <a:r>
              <a:rPr lang="en-US" altLang="en-US" sz="2000" dirty="0" smtClean="0"/>
              <a:t> </a:t>
            </a:r>
            <a:r>
              <a:rPr lang="en-US" altLang="en-US" sz="2000" dirty="0">
                <a:latin typeface="Arial Unicode MS" panose="020B0604020202020204" pitchFamily="34" charset="-128"/>
              </a:rPr>
              <a:t>IMG_23934234_final_edit_REAL.png</a:t>
            </a:r>
            <a:r>
              <a:rPr lang="en-US" altLang="en-US" sz="2000" dirty="0"/>
              <a:t> </a:t>
            </a:r>
            <a:endParaRPr lang="en-US" altLang="en-US" sz="20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9789342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62464"/>
            <a:ext cx="8825659" cy="1071113"/>
          </a:xfrm>
        </p:spPr>
        <p:txBody>
          <a:bodyPr/>
          <a:lstStyle/>
          <a:p>
            <a:pPr lvl="0" fontAlgn="base">
              <a:spcAft>
                <a:spcPct val="0"/>
              </a:spcAft>
            </a:pPr>
            <a:r>
              <a:rPr lang="en-US" b="1" dirty="0"/>
              <a:t>Practical Example</a:t>
            </a:r>
            <a:endParaRPr lang="en-US" altLang="en-US" b="1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type="body" sz="half" idx="2"/>
          </p:nvPr>
        </p:nvSpPr>
        <p:spPr bwMode="auto">
          <a:xfrm>
            <a:off x="1154955" y="2711882"/>
            <a:ext cx="9984900" cy="16312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lvl="0" indent="-4572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arenR"/>
            </a:pPr>
            <a:r>
              <a:rPr lang="en-US" altLang="en-US" sz="2000" i="1" dirty="0">
                <a:solidFill>
                  <a:srgbClr val="92D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&lt;!-- Class 3 Example --&gt;</a:t>
            </a:r>
          </a:p>
          <a:p>
            <a:pPr marL="457200" lvl="0" indent="-4572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arenR"/>
            </a:pPr>
            <a:r>
              <a:rPr lang="en-US" altLang="en-US" sz="2000" i="1" dirty="0">
                <a:solidFill>
                  <a:srgbClr val="FFFF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&lt;a </a:t>
            </a:r>
            <a:r>
              <a:rPr lang="en-US" altLang="en-US" sz="2000" i="1" dirty="0" err="1">
                <a:solidFill>
                  <a:srgbClr val="FFFF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href</a:t>
            </a:r>
            <a:r>
              <a:rPr lang="en-US" altLang="en-US" sz="2000" i="1" dirty="0">
                <a:solidFill>
                  <a:srgbClr val="FFFF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="https://google.com" target="_blank"&gt;Visit Google&lt;/a&gt;</a:t>
            </a:r>
          </a:p>
          <a:p>
            <a:pPr marL="457200" lvl="0" indent="-4572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arenR"/>
            </a:pPr>
            <a:r>
              <a:rPr lang="en-US" altLang="en-US" sz="2000" i="1" dirty="0">
                <a:solidFill>
                  <a:srgbClr val="FFFF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&lt;</a:t>
            </a:r>
            <a:r>
              <a:rPr lang="en-US" altLang="en-US" sz="2000" i="1" dirty="0" err="1">
                <a:solidFill>
                  <a:srgbClr val="FFFF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br</a:t>
            </a:r>
            <a:r>
              <a:rPr lang="en-US" altLang="en-US" sz="2000" i="1" dirty="0">
                <a:solidFill>
                  <a:srgbClr val="FFFF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&gt;&lt;</a:t>
            </a:r>
            <a:r>
              <a:rPr lang="en-US" altLang="en-US" sz="2000" i="1" dirty="0" err="1">
                <a:solidFill>
                  <a:srgbClr val="FFFF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br</a:t>
            </a:r>
            <a:r>
              <a:rPr lang="en-US" altLang="en-US" sz="2000" i="1" dirty="0">
                <a:solidFill>
                  <a:srgbClr val="FFFF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&gt;</a:t>
            </a:r>
          </a:p>
          <a:p>
            <a:pPr marL="457200" lvl="0" indent="-4572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arenR"/>
            </a:pPr>
            <a:endParaRPr lang="en-US" altLang="en-US" sz="2000" i="1" dirty="0">
              <a:solidFill>
                <a:srgbClr val="FFFF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57200" lvl="0" indent="-4572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arenR"/>
            </a:pPr>
            <a:r>
              <a:rPr lang="en-US" altLang="en-US" sz="2000" i="1" dirty="0">
                <a:solidFill>
                  <a:srgbClr val="FFFF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&lt;</a:t>
            </a:r>
            <a:r>
              <a:rPr lang="en-US" altLang="en-US" sz="2000" i="1" dirty="0" err="1">
                <a:solidFill>
                  <a:srgbClr val="FFFF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img</a:t>
            </a:r>
            <a:r>
              <a:rPr lang="en-US" altLang="en-US" sz="2000" i="1" dirty="0">
                <a:solidFill>
                  <a:srgbClr val="FFFF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sz="2000" i="1" dirty="0" err="1">
                <a:solidFill>
                  <a:srgbClr val="FFFF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src</a:t>
            </a:r>
            <a:r>
              <a:rPr lang="en-US" altLang="en-US" sz="2000" i="1" dirty="0">
                <a:solidFill>
                  <a:srgbClr val="FFFF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="images/nature.jpg" width="400" alt="Beautiful Nature"&gt;</a:t>
            </a:r>
          </a:p>
        </p:txBody>
      </p:sp>
    </p:spTree>
    <p:extLst>
      <p:ext uri="{BB962C8B-B14F-4D97-AF65-F5344CB8AC3E}">
        <p14:creationId xmlns:p14="http://schemas.microsoft.com/office/powerpoint/2010/main" val="80746446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62464"/>
            <a:ext cx="8825659" cy="1071113"/>
          </a:xfrm>
        </p:spPr>
        <p:txBody>
          <a:bodyPr/>
          <a:lstStyle/>
          <a:p>
            <a:pPr lvl="0" fontAlgn="base">
              <a:spcAft>
                <a:spcPct val="0"/>
              </a:spcAft>
            </a:pPr>
            <a:r>
              <a:rPr lang="en-US" altLang="en-US" b="1" dirty="0"/>
              <a:t>Summary of today Class</a:t>
            </a:r>
          </a:p>
        </p:txBody>
      </p:sp>
      <p:sp>
        <p:nvSpPr>
          <p:cNvPr id="4" name="Rectangle 1"/>
          <p:cNvSpPr>
            <a:spLocks noGrp="1" noChangeArrowheads="1"/>
          </p:cNvSpPr>
          <p:nvPr>
            <p:ph type="body" sz="half" idx="2"/>
          </p:nvPr>
        </p:nvSpPr>
        <p:spPr bwMode="auto">
          <a:xfrm>
            <a:off x="1154955" y="2250218"/>
            <a:ext cx="9984900" cy="2554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2000" dirty="0">
                <a:latin typeface="Arial" panose="020B0604020202020204" pitchFamily="34" charset="0"/>
              </a:rPr>
              <a:t>Today we covered:</a:t>
            </a:r>
          </a:p>
          <a:p>
            <a:pPr marL="342900" lvl="0" indent="-3429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</a:pPr>
            <a:r>
              <a:rPr lang="en-US" altLang="en-US" sz="2000" dirty="0" smtClean="0">
                <a:latin typeface="Arial" panose="020B0604020202020204" pitchFamily="34" charset="0"/>
              </a:rPr>
              <a:t>Anchor </a:t>
            </a:r>
            <a:r>
              <a:rPr lang="en-US" altLang="en-US" sz="2000" dirty="0">
                <a:latin typeface="Arial" panose="020B0604020202020204" pitchFamily="34" charset="0"/>
              </a:rPr>
              <a:t>tag </a:t>
            </a:r>
            <a:r>
              <a:rPr lang="en-US" altLang="en-US" sz="2000" dirty="0">
                <a:latin typeface="Arial Unicode MS" panose="020B0604020202020204" pitchFamily="34" charset="-128"/>
              </a:rPr>
              <a:t>&lt;</a:t>
            </a:r>
            <a:r>
              <a:rPr lang="en-US" altLang="en-US" sz="2000" dirty="0" smtClean="0">
                <a:latin typeface="Arial Unicode MS" panose="020B0604020202020204" pitchFamily="34" charset="-128"/>
              </a:rPr>
              <a:t>a&gt;</a:t>
            </a:r>
            <a:endParaRPr lang="en-US" altLang="en-US" sz="2000" dirty="0"/>
          </a:p>
          <a:p>
            <a:pPr marL="342900" lvl="0" indent="-3429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</a:pPr>
            <a:r>
              <a:rPr lang="en-US" altLang="en-US" sz="2000" dirty="0" smtClean="0"/>
              <a:t>Internal </a:t>
            </a:r>
            <a:r>
              <a:rPr lang="en-US" altLang="en-US" sz="2000" dirty="0"/>
              <a:t>vs external </a:t>
            </a:r>
            <a:r>
              <a:rPr lang="en-US" altLang="en-US" sz="2000" dirty="0" smtClean="0"/>
              <a:t>links</a:t>
            </a:r>
            <a:endParaRPr lang="en-US" altLang="en-US" sz="2000" dirty="0"/>
          </a:p>
          <a:p>
            <a:pPr marL="342900" lvl="0" indent="-3429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</a:pPr>
            <a:r>
              <a:rPr lang="en-US" altLang="en-US" sz="2000" dirty="0" smtClean="0"/>
              <a:t>Opening </a:t>
            </a:r>
            <a:r>
              <a:rPr lang="en-US" altLang="en-US" sz="2000" dirty="0"/>
              <a:t>links in a new </a:t>
            </a:r>
            <a:r>
              <a:rPr lang="en-US" altLang="en-US" sz="2000" dirty="0" smtClean="0"/>
              <a:t>tab</a:t>
            </a:r>
            <a:endParaRPr lang="en-US" altLang="en-US" sz="2000" dirty="0"/>
          </a:p>
          <a:p>
            <a:pPr marL="342900" lvl="0" indent="-3429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</a:pPr>
            <a:r>
              <a:rPr lang="en-US" altLang="en-US" sz="2000" dirty="0" smtClean="0"/>
              <a:t>Image </a:t>
            </a:r>
            <a:r>
              <a:rPr lang="en-US" altLang="en-US" sz="2000" dirty="0"/>
              <a:t>tag </a:t>
            </a:r>
            <a:r>
              <a:rPr lang="en-US" altLang="en-US" sz="2000" dirty="0">
                <a:latin typeface="Arial Unicode MS" panose="020B0604020202020204" pitchFamily="34" charset="-128"/>
              </a:rPr>
              <a:t>&lt;</a:t>
            </a:r>
            <a:r>
              <a:rPr lang="en-US" altLang="en-US" sz="2000" dirty="0" err="1" smtClean="0">
                <a:latin typeface="Arial Unicode MS" panose="020B0604020202020204" pitchFamily="34" charset="-128"/>
              </a:rPr>
              <a:t>img</a:t>
            </a:r>
            <a:r>
              <a:rPr lang="en-US" altLang="en-US" sz="2000" dirty="0" smtClean="0">
                <a:latin typeface="Arial Unicode MS" panose="020B0604020202020204" pitchFamily="34" charset="-128"/>
              </a:rPr>
              <a:t>&gt;</a:t>
            </a:r>
            <a:endParaRPr lang="en-US" altLang="en-US" sz="2000" dirty="0"/>
          </a:p>
          <a:p>
            <a:pPr marL="342900" lvl="0" indent="-3429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</a:pPr>
            <a:r>
              <a:rPr lang="en-US" altLang="en-US" sz="2000" dirty="0" smtClean="0"/>
              <a:t>Image attributes</a:t>
            </a:r>
            <a:endParaRPr lang="en-US" altLang="en-US" sz="2000" dirty="0"/>
          </a:p>
          <a:p>
            <a:pPr marL="342900" lvl="0" indent="-3429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</a:pPr>
            <a:r>
              <a:rPr lang="en-US" altLang="en-US" sz="2000" dirty="0" smtClean="0"/>
              <a:t>Optimization </a:t>
            </a:r>
            <a:r>
              <a:rPr lang="en-US" altLang="en-US" sz="2000" dirty="0"/>
              <a:t>best practices</a:t>
            </a:r>
            <a:endParaRPr lang="en-US" altLang="en-US" sz="2000" dirty="0">
              <a:latin typeface="Arial" panose="020B0604020202020204" pitchFamily="34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2000" dirty="0">
                <a:latin typeface="Arial" panose="020B0604020202020204" pitchFamily="34" charset="0"/>
              </a:rPr>
              <a:t>Next Class → </a:t>
            </a:r>
            <a:r>
              <a:rPr lang="en-US" altLang="en-US" sz="2000" b="1" dirty="0">
                <a:latin typeface="Arial" panose="020B0604020202020204" pitchFamily="34" charset="0"/>
              </a:rPr>
              <a:t>HTML Lists &amp; Tables</a:t>
            </a:r>
            <a:endParaRPr lang="en-US" altLang="en-US" sz="2000" dirty="0">
              <a:latin typeface="Arial" panose="020B0604020202020204" pitchFamily="34" charset="0"/>
            </a:endParaRPr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45986169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build="p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0E5580"/>
      </a:dk2>
      <a:lt2>
        <a:srgbClr val="EBEBEB"/>
      </a:lt2>
      <a:accent1>
        <a:srgbClr val="ACD433"/>
      </a:accent1>
      <a:accent2>
        <a:srgbClr val="E6C133"/>
      </a:accent2>
      <a:accent3>
        <a:srgbClr val="EF7A24"/>
      </a:accent3>
      <a:accent4>
        <a:srgbClr val="5AA0F5"/>
      </a:accent4>
      <a:accent5>
        <a:srgbClr val="75CEEC"/>
      </a:accent5>
      <a:accent6>
        <a:srgbClr val="65D6A0"/>
      </a:accent6>
      <a:hlink>
        <a:srgbClr val="C4E46E"/>
      </a:hlink>
      <a:folHlink>
        <a:srgbClr val="BDE0F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2000"/>
                <a:hueMod val="96000"/>
                <a:satMod val="128000"/>
                <a:lumMod val="114000"/>
              </a:schemeClr>
            </a:gs>
            <a:gs pos="100000">
              <a:schemeClr val="phClr">
                <a:shade val="62000"/>
                <a:hueMod val="100000"/>
                <a:satMod val="13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2000"/>
                <a:hueMod val="108000"/>
                <a:satMod val="164000"/>
                <a:lumMod val="69000"/>
              </a:schemeClr>
              <a:schemeClr val="phClr">
                <a:tint val="96000"/>
                <a:hueMod val="90000"/>
                <a:satMod val="130000"/>
                <a:lumMod val="13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BACC050B-8757-4460-95D8-E37B46A6B42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893</TotalTime>
  <Words>511</Words>
  <Application>Microsoft Office PowerPoint</Application>
  <PresentationFormat>Widescreen</PresentationFormat>
  <Paragraphs>95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1" baseType="lpstr">
      <vt:lpstr>Arial Unicode MS</vt:lpstr>
      <vt:lpstr>Arial</vt:lpstr>
      <vt:lpstr>Calibri</vt:lpstr>
      <vt:lpstr>Century Gothic</vt:lpstr>
      <vt:lpstr>Courier New</vt:lpstr>
      <vt:lpstr>Times New Roman</vt:lpstr>
      <vt:lpstr>Wingdings</vt:lpstr>
      <vt:lpstr>Wingdings 3</vt:lpstr>
      <vt:lpstr>Ion</vt:lpstr>
      <vt:lpstr>بِسْمِ ٱللَّهِ ٱلرَّحْمَٰنِ ٱلرَّحِيمِ</vt:lpstr>
      <vt:lpstr>Course: Web Designing</vt:lpstr>
      <vt:lpstr>What we will learn today</vt:lpstr>
      <vt:lpstr>Anchor Tag &lt;a&gt;</vt:lpstr>
      <vt:lpstr>Internal vs External Links</vt:lpstr>
      <vt:lpstr>Internal vs External Links</vt:lpstr>
      <vt:lpstr>Opening Links in New Tab</vt:lpstr>
      <vt:lpstr>Image Tag &lt;img&gt; </vt:lpstr>
      <vt:lpstr>Image Attributes</vt:lpstr>
      <vt:lpstr>Image Optimization Best Practices</vt:lpstr>
      <vt:lpstr>Practical Example</vt:lpstr>
      <vt:lpstr>Summary of today Class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Course: Web Designing</dc:title>
  <dc:creator>Muhammad Sahil</dc:creator>
  <cp:lastModifiedBy>Muhammad Sahil</cp:lastModifiedBy>
  <cp:revision>25</cp:revision>
  <dcterms:created xsi:type="dcterms:W3CDTF">2025-11-16T03:57:59Z</dcterms:created>
  <dcterms:modified xsi:type="dcterms:W3CDTF">2025-11-27T10:09:57Z</dcterms:modified>
</cp:coreProperties>
</file>